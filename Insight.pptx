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8" r:id="rId3"/>
  </p:sldMasterIdLst>
  <p:sldIdLst>
    <p:sldId id="256" r:id="rId4"/>
    <p:sldId id="283" r:id="rId5"/>
    <p:sldId id="259" r:id="rId6"/>
    <p:sldId id="279" r:id="rId7"/>
    <p:sldId id="280" r:id="rId8"/>
    <p:sldId id="281" r:id="rId9"/>
    <p:sldId id="282" r:id="rId10"/>
    <p:sldId id="268" r:id="rId11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B719"/>
    <a:srgbClr val="F0B82C"/>
    <a:srgbClr val="000000"/>
    <a:srgbClr val="DBDBDC"/>
    <a:srgbClr val="939496"/>
    <a:srgbClr val="F1B82D"/>
    <a:srgbClr val="FAC822"/>
    <a:srgbClr val="F3B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20.xml"/><Relationship Id="rId17" Type="http://schemas.openxmlformats.org/officeDocument/2006/relationships/customXml" Target="../customXml/item3.xml"/><Relationship Id="rId16" Type="http://schemas.openxmlformats.org/officeDocument/2006/relationships/customXml" Target="../customXml/item2.xml"/><Relationship Id="rId15" Type="http://schemas.openxmlformats.org/officeDocument/2006/relationships/customXml" Target="../customXml/item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 userDrawn="1"/>
        </p:nvSpPr>
        <p:spPr>
          <a:xfrm>
            <a:off x="-1" y="897466"/>
            <a:ext cx="12192001" cy="59605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909886" y="1240897"/>
            <a:ext cx="10369973" cy="2387600"/>
          </a:xfrm>
        </p:spPr>
        <p:txBody>
          <a:bodyPr anchor="b">
            <a:normAutofit/>
          </a:bodyPr>
          <a:lstStyle>
            <a:lvl1pPr algn="l">
              <a:defRPr sz="4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09886" y="3628497"/>
            <a:ext cx="10369973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Goes Here</a:t>
            </a:r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55785"/>
            <a:ext cx="10515600" cy="3853815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" y="897466"/>
            <a:ext cx="12192001" cy="59605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9886" y="2235200"/>
            <a:ext cx="10369973" cy="2387600"/>
          </a:xfrm>
        </p:spPr>
        <p:txBody>
          <a:bodyPr anchor="ctr" anchorCtr="0">
            <a:normAutofit/>
          </a:bodyPr>
          <a:lstStyle>
            <a:lvl1pPr algn="l">
              <a:defRPr sz="4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838200" y="2255785"/>
            <a:ext cx="5181600" cy="3853815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idx="11"/>
          </p:nvPr>
        </p:nvSpPr>
        <p:spPr>
          <a:xfrm>
            <a:off x="6176682" y="2255785"/>
            <a:ext cx="5181600" cy="3853815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2280135"/>
            <a:ext cx="5157787" cy="666115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  <a:endParaRPr lang="en-US"/>
          </a:p>
        </p:txBody>
      </p:sp>
      <p:sp>
        <p:nvSpPr>
          <p:cNvPr id="24" name="Content Placeholder 2"/>
          <p:cNvSpPr>
            <a:spLocks noGrp="1"/>
          </p:cNvSpPr>
          <p:nvPr>
            <p:ph idx="11"/>
          </p:nvPr>
        </p:nvSpPr>
        <p:spPr>
          <a:xfrm>
            <a:off x="838200" y="3065928"/>
            <a:ext cx="5181600" cy="3043671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2280135"/>
            <a:ext cx="5183188" cy="666115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  <a:endParaRPr lang="en-US"/>
          </a:p>
        </p:txBody>
      </p:sp>
      <p:sp>
        <p:nvSpPr>
          <p:cNvPr id="25" name="Content Placeholder 2"/>
          <p:cNvSpPr>
            <a:spLocks noGrp="1"/>
          </p:cNvSpPr>
          <p:nvPr>
            <p:ph idx="12"/>
          </p:nvPr>
        </p:nvSpPr>
        <p:spPr>
          <a:xfrm>
            <a:off x="6176682" y="3065928"/>
            <a:ext cx="5181600" cy="3043671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1013" y="2235200"/>
            <a:ext cx="10369973" cy="2387600"/>
          </a:xfrm>
        </p:spPr>
        <p:txBody>
          <a:bodyPr anchor="ctr" anchorCtr="0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49880"/>
            <a:ext cx="3932237" cy="3811588"/>
          </a:xfrm>
        </p:spPr>
        <p:txBody>
          <a:bodyPr/>
          <a:lstStyle>
            <a:lvl1pPr marL="0" indent="0">
              <a:lnSpc>
                <a:spcPct val="108000"/>
              </a:lnSpc>
              <a:buNone/>
              <a:defRPr sz="18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a </a:t>
            </a:r>
            <a:r>
              <a:rPr lang="en-US" err="1"/>
              <a:t>scelerisque</a:t>
            </a:r>
            <a:r>
              <a:rPr lang="en-US"/>
              <a:t>. Sed at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. Maecenas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eros at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</a:t>
            </a:r>
            <a:r>
              <a:rPr lang="en-US" err="1"/>
              <a:t>nulla</a:t>
            </a:r>
            <a:r>
              <a:rPr lang="en-US"/>
              <a:t> lorem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tempus </a:t>
            </a:r>
            <a:r>
              <a:rPr lang="en-US" err="1"/>
              <a:t>sapien</a:t>
            </a:r>
            <a:r>
              <a:rPr lang="en-US"/>
              <a:t> vel </a:t>
            </a:r>
            <a:r>
              <a:rPr lang="en-US" err="1"/>
              <a:t>enim</a:t>
            </a:r>
            <a:r>
              <a:rPr lang="en-US"/>
              <a:t>. Nam pulvinar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, sed </a:t>
            </a:r>
            <a:r>
              <a:rPr lang="en-US" err="1"/>
              <a:t>imperdiet</a:t>
            </a:r>
            <a:r>
              <a:rPr lang="en-US"/>
              <a:t> nisi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541943"/>
            <a:ext cx="6172200" cy="3811588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sz="2000"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sz="1800"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sz="1600"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49880"/>
            <a:ext cx="3932237" cy="3811588"/>
          </a:xfrm>
        </p:spPr>
        <p:txBody>
          <a:bodyPr/>
          <a:lstStyle>
            <a:lvl1pPr marL="0" indent="0">
              <a:lnSpc>
                <a:spcPct val="108000"/>
              </a:lnSpc>
              <a:buNone/>
              <a:defRPr sz="18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a </a:t>
            </a:r>
            <a:r>
              <a:rPr lang="en-US" err="1"/>
              <a:t>scelerisque</a:t>
            </a:r>
            <a:r>
              <a:rPr lang="en-US"/>
              <a:t>. Sed at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. Maecenas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eros at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</a:t>
            </a:r>
            <a:r>
              <a:rPr lang="en-US" err="1"/>
              <a:t>nulla</a:t>
            </a:r>
            <a:r>
              <a:rPr lang="en-US"/>
              <a:t> lorem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tempus </a:t>
            </a:r>
            <a:r>
              <a:rPr lang="en-US" err="1"/>
              <a:t>sapien</a:t>
            </a:r>
            <a:r>
              <a:rPr lang="en-US"/>
              <a:t> vel </a:t>
            </a:r>
            <a:r>
              <a:rPr lang="en-US" err="1"/>
              <a:t>enim</a:t>
            </a:r>
            <a:r>
              <a:rPr lang="en-US"/>
              <a:t>. Nam pulvinar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, sed </a:t>
            </a:r>
            <a:r>
              <a:rPr lang="en-US" err="1"/>
              <a:t>imperdiet</a:t>
            </a:r>
            <a:r>
              <a:rPr lang="en-US"/>
              <a:t> nisi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541946"/>
            <a:ext cx="6172200" cy="3811588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 userDrawn="1"/>
        </p:nvSpPr>
        <p:spPr>
          <a:xfrm>
            <a:off x="-1" y="897466"/>
            <a:ext cx="12192001" cy="59605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909886" y="1240897"/>
            <a:ext cx="10369973" cy="2387600"/>
          </a:xfrm>
        </p:spPr>
        <p:txBody>
          <a:bodyPr anchor="b">
            <a:normAutofit/>
          </a:bodyPr>
          <a:lstStyle>
            <a:lvl1pPr algn="l">
              <a:defRPr sz="4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09886" y="3628497"/>
            <a:ext cx="10369973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Goes Here</a:t>
            </a:r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55785"/>
            <a:ext cx="10515600" cy="3853815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" y="897466"/>
            <a:ext cx="12192001" cy="59605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9886" y="2235200"/>
            <a:ext cx="10369973" cy="2387600"/>
          </a:xfrm>
        </p:spPr>
        <p:txBody>
          <a:bodyPr anchor="ctr" anchorCtr="0">
            <a:normAutofit/>
          </a:bodyPr>
          <a:lstStyle>
            <a:lvl1pPr algn="l">
              <a:defRPr sz="4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838200" y="2255785"/>
            <a:ext cx="5181600" cy="3853815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idx="11"/>
          </p:nvPr>
        </p:nvSpPr>
        <p:spPr>
          <a:xfrm>
            <a:off x="6176682" y="2255785"/>
            <a:ext cx="5181600" cy="3853815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2280135"/>
            <a:ext cx="5157787" cy="666115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  <a:endParaRPr lang="en-US"/>
          </a:p>
        </p:txBody>
      </p:sp>
      <p:sp>
        <p:nvSpPr>
          <p:cNvPr id="24" name="Content Placeholder 2"/>
          <p:cNvSpPr>
            <a:spLocks noGrp="1"/>
          </p:cNvSpPr>
          <p:nvPr>
            <p:ph idx="11"/>
          </p:nvPr>
        </p:nvSpPr>
        <p:spPr>
          <a:xfrm>
            <a:off x="838200" y="3065928"/>
            <a:ext cx="5181600" cy="3043671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2280135"/>
            <a:ext cx="5183188" cy="666115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  <a:endParaRPr lang="en-US"/>
          </a:p>
        </p:txBody>
      </p:sp>
      <p:sp>
        <p:nvSpPr>
          <p:cNvPr id="25" name="Content Placeholder 2"/>
          <p:cNvSpPr>
            <a:spLocks noGrp="1"/>
          </p:cNvSpPr>
          <p:nvPr>
            <p:ph idx="12"/>
          </p:nvPr>
        </p:nvSpPr>
        <p:spPr>
          <a:xfrm>
            <a:off x="6176682" y="3065928"/>
            <a:ext cx="5181600" cy="3043671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1013" y="2235200"/>
            <a:ext cx="10369973" cy="2387600"/>
          </a:xfrm>
        </p:spPr>
        <p:txBody>
          <a:bodyPr anchor="ctr" anchorCtr="0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49880"/>
            <a:ext cx="3932237" cy="3811588"/>
          </a:xfrm>
        </p:spPr>
        <p:txBody>
          <a:bodyPr/>
          <a:lstStyle>
            <a:lvl1pPr marL="0" indent="0">
              <a:lnSpc>
                <a:spcPct val="108000"/>
              </a:lnSpc>
              <a:buNone/>
              <a:defRPr sz="18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a </a:t>
            </a:r>
            <a:r>
              <a:rPr lang="en-US" err="1"/>
              <a:t>scelerisque</a:t>
            </a:r>
            <a:r>
              <a:rPr lang="en-US"/>
              <a:t>. Sed at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. Maecenas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eros at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</a:t>
            </a:r>
            <a:r>
              <a:rPr lang="en-US" err="1"/>
              <a:t>nulla</a:t>
            </a:r>
            <a:r>
              <a:rPr lang="en-US"/>
              <a:t> lorem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tempus </a:t>
            </a:r>
            <a:r>
              <a:rPr lang="en-US" err="1"/>
              <a:t>sapien</a:t>
            </a:r>
            <a:r>
              <a:rPr lang="en-US"/>
              <a:t> vel </a:t>
            </a:r>
            <a:r>
              <a:rPr lang="en-US" err="1"/>
              <a:t>enim</a:t>
            </a:r>
            <a:r>
              <a:rPr lang="en-US"/>
              <a:t>. Nam pulvinar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, sed </a:t>
            </a:r>
            <a:r>
              <a:rPr lang="en-US" err="1"/>
              <a:t>imperdiet</a:t>
            </a:r>
            <a:r>
              <a:rPr lang="en-US"/>
              <a:t> nisi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541943"/>
            <a:ext cx="6172200" cy="3811588"/>
          </a:xfrm>
        </p:spPr>
        <p:txBody>
          <a:bodyPr/>
          <a:lstStyle>
            <a:lvl1pPr>
              <a:defRPr sz="24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>
              <a:defRPr sz="2200" b="0" i="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>
              <a:defRPr sz="2000" b="0" i="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>
              <a:defRPr sz="1800" b="0" i="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>
              <a:defRPr sz="1600" b="0" i="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/>
          <p:cNvSpPr>
            <a:spLocks noGrp="1"/>
          </p:cNvSpPr>
          <p:nvPr>
            <p:ph type="title" hasCustomPrompt="1"/>
          </p:nvPr>
        </p:nvSpPr>
        <p:spPr>
          <a:xfrm>
            <a:off x="838200" y="1320800"/>
            <a:ext cx="10515600" cy="93498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Title Goes Here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49880"/>
            <a:ext cx="3932237" cy="3811588"/>
          </a:xfrm>
        </p:spPr>
        <p:txBody>
          <a:bodyPr/>
          <a:lstStyle>
            <a:lvl1pPr marL="0" indent="0">
              <a:lnSpc>
                <a:spcPct val="108000"/>
              </a:lnSpc>
              <a:buNone/>
              <a:defRPr sz="1800" b="0" i="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a </a:t>
            </a:r>
            <a:r>
              <a:rPr lang="en-US" err="1"/>
              <a:t>scelerisque</a:t>
            </a:r>
            <a:r>
              <a:rPr lang="en-US"/>
              <a:t>. Sed at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. Maecenas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eros at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</a:t>
            </a:r>
            <a:r>
              <a:rPr lang="en-US" err="1"/>
              <a:t>nulla</a:t>
            </a:r>
            <a:r>
              <a:rPr lang="en-US"/>
              <a:t> lorem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tempus </a:t>
            </a:r>
            <a:r>
              <a:rPr lang="en-US" err="1"/>
              <a:t>sapien</a:t>
            </a:r>
            <a:r>
              <a:rPr lang="en-US"/>
              <a:t> vel </a:t>
            </a:r>
            <a:r>
              <a:rPr lang="en-US" err="1"/>
              <a:t>enim</a:t>
            </a:r>
            <a:r>
              <a:rPr lang="en-US"/>
              <a:t>. Nam pulvinar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, sed </a:t>
            </a:r>
            <a:r>
              <a:rPr lang="en-US" err="1"/>
              <a:t>imperdiet</a:t>
            </a:r>
            <a:r>
              <a:rPr lang="en-US"/>
              <a:t> nisi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541946"/>
            <a:ext cx="6172200" cy="3811588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6647380"/>
            <a:ext cx="4062492" cy="21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065320" y="6647380"/>
            <a:ext cx="4062492" cy="2106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127812" y="6647380"/>
            <a:ext cx="2036618" cy="2106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0165274" y="6647379"/>
            <a:ext cx="2036618" cy="2106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-2845"/>
            <a:ext cx="12192000" cy="932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084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565400"/>
            <a:ext cx="10515600" cy="3611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pic>
        <p:nvPicPr>
          <p:cNvPr id="7" name="Picture 6" descr="UMKC logo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38200" y="-2845"/>
            <a:ext cx="1639663" cy="9031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-2845"/>
            <a:ext cx="12192000" cy="932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084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565400"/>
            <a:ext cx="10515600" cy="3611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pic>
        <p:nvPicPr>
          <p:cNvPr id="7" name="Picture 6" descr="UMKC logo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38200" y="-2845"/>
            <a:ext cx="1639663" cy="9031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tags" Target="../tags/tag6.xml"/><Relationship Id="rId2" Type="http://schemas.openxmlformats.org/officeDocument/2006/relationships/image" Target="../media/image4.png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image" Target="../media/image9.png"/><Relationship Id="rId7" Type="http://schemas.openxmlformats.org/officeDocument/2006/relationships/tags" Target="../tags/tag11.xml"/><Relationship Id="rId6" Type="http://schemas.openxmlformats.org/officeDocument/2006/relationships/image" Target="../media/image8.png"/><Relationship Id="rId5" Type="http://schemas.openxmlformats.org/officeDocument/2006/relationships/tags" Target="../tags/tag10.xml"/><Relationship Id="rId4" Type="http://schemas.openxmlformats.org/officeDocument/2006/relationships/image" Target="../media/image7.png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9" Type="http://schemas.openxmlformats.org/officeDocument/2006/relationships/slideLayout" Target="../slideLayouts/slideLayout11.xml"/><Relationship Id="rId18" Type="http://schemas.openxmlformats.org/officeDocument/2006/relationships/image" Target="../media/image14.png"/><Relationship Id="rId17" Type="http://schemas.openxmlformats.org/officeDocument/2006/relationships/tags" Target="../tags/tag16.xml"/><Relationship Id="rId16" Type="http://schemas.openxmlformats.org/officeDocument/2006/relationships/image" Target="../media/image13.png"/><Relationship Id="rId15" Type="http://schemas.openxmlformats.org/officeDocument/2006/relationships/tags" Target="../tags/tag15.xml"/><Relationship Id="rId14" Type="http://schemas.openxmlformats.org/officeDocument/2006/relationships/image" Target="../media/image12.png"/><Relationship Id="rId13" Type="http://schemas.openxmlformats.org/officeDocument/2006/relationships/tags" Target="../tags/tag14.xml"/><Relationship Id="rId12" Type="http://schemas.openxmlformats.org/officeDocument/2006/relationships/image" Target="../media/image11.png"/><Relationship Id="rId11" Type="http://schemas.openxmlformats.org/officeDocument/2006/relationships/tags" Target="../tags/tag13.xml"/><Relationship Id="rId10" Type="http://schemas.openxmlformats.org/officeDocument/2006/relationships/image" Target="../media/image10.png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9886" y="1240897"/>
            <a:ext cx="10369973" cy="2387600"/>
          </a:xfrm>
        </p:spPr>
        <p:txBody>
          <a:bodyPr/>
          <a:lstStyle/>
          <a:p>
            <a:r>
              <a:rPr lang="en-US"/>
              <a:t>NSF-NRT  </a:t>
            </a:r>
            <a:r>
              <a:rPr lang="en-US" sz="2400"/>
              <a:t>challenge A</a:t>
            </a:r>
            <a:endParaRPr lang="en-US" sz="2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9886" y="3628497"/>
            <a:ext cx="10369973" cy="1655762"/>
          </a:xfrm>
        </p:spPr>
        <p:txBody>
          <a:bodyPr/>
          <a:lstStyle/>
          <a:p>
            <a:r>
              <a:rPr lang="en-US" b="1"/>
              <a:t>Team insight</a:t>
            </a:r>
            <a:r>
              <a:rPr lang="en-US"/>
              <a:t> : ppt and product made by Zelong Huang and Perry Liang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38200" y="928370"/>
            <a:ext cx="10515600" cy="934985"/>
          </a:xfrm>
        </p:spPr>
        <p:txBody>
          <a:bodyPr/>
          <a:lstStyle/>
          <a:p>
            <a:r>
              <a:rPr lang="en-US" b="1"/>
              <a:t>Contents</a:t>
            </a:r>
            <a:endParaRPr lang="en-US" b="1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863090"/>
            <a:ext cx="6816090" cy="429069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2800" b="1">
                <a:solidFill>
                  <a:schemeClr val="accent2"/>
                </a:solidFill>
              </a:rPr>
              <a:t>1:</a:t>
            </a:r>
            <a:r>
              <a:rPr lang="en-US" sz="2800" b="1">
                <a:solidFill>
                  <a:schemeClr val="accent2"/>
                </a:solidFill>
                <a:sym typeface="+mn-ea"/>
              </a:rPr>
              <a:t>Problem Statement </a:t>
            </a:r>
            <a:r>
              <a:rPr lang="en-US" sz="2800" b="1">
                <a:solidFill>
                  <a:schemeClr val="accent2"/>
                </a:solidFill>
                <a:sym typeface="+mn-ea"/>
              </a:rPr>
              <a:t>&amp; Mission</a:t>
            </a:r>
            <a:endParaRPr lang="en-US" sz="2800" b="1">
              <a:solidFill>
                <a:schemeClr val="accent2"/>
              </a:solidFill>
              <a:sym typeface="+mn-ea"/>
            </a:endParaRPr>
          </a:p>
          <a:p>
            <a:pPr marL="0" indent="0">
              <a:buNone/>
            </a:pPr>
            <a:endParaRPr lang="en-US" sz="2800" b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2800" b="1">
                <a:solidFill>
                  <a:schemeClr val="accent2"/>
                </a:solidFill>
              </a:rPr>
              <a:t>2:</a:t>
            </a:r>
            <a:r>
              <a:rPr lang="en-US" sz="2800" b="1">
                <a:solidFill>
                  <a:schemeClr val="accent2"/>
                </a:solidFill>
                <a:sym typeface="+mn-ea"/>
              </a:rPr>
              <a:t>Hardware: High-Precision Sensing</a:t>
            </a:r>
            <a:endParaRPr lang="en-US" sz="2800" b="1">
              <a:solidFill>
                <a:schemeClr val="accent2"/>
              </a:solidFill>
              <a:sym typeface="+mn-ea"/>
            </a:endParaRPr>
          </a:p>
          <a:p>
            <a:pPr marL="0" indent="0">
              <a:buNone/>
            </a:pPr>
            <a:endParaRPr lang="en-US" sz="2800" b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2800" b="1">
                <a:solidFill>
                  <a:schemeClr val="accent2"/>
                </a:solidFill>
              </a:rPr>
              <a:t>3:</a:t>
            </a:r>
            <a:r>
              <a:rPr lang="en-US" sz="2800" b="1">
                <a:solidFill>
                  <a:schemeClr val="accent2"/>
                </a:solidFill>
                <a:sym typeface="+mn-ea"/>
              </a:rPr>
              <a:t>Gateway &amp; Data Processing Logic</a:t>
            </a:r>
            <a:endParaRPr lang="en-US" sz="2800" b="1">
              <a:solidFill>
                <a:schemeClr val="accent2"/>
              </a:solidFill>
              <a:sym typeface="+mn-ea"/>
            </a:endParaRPr>
          </a:p>
          <a:p>
            <a:pPr marL="0" indent="0">
              <a:buNone/>
            </a:pPr>
            <a:endParaRPr lang="en-US" sz="2800" b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2800" b="1">
                <a:solidFill>
                  <a:schemeClr val="accent2"/>
                </a:solidFill>
              </a:rPr>
              <a:t>4:</a:t>
            </a:r>
            <a:r>
              <a:rPr lang="en-US" sz="2800" b="1">
                <a:solidFill>
                  <a:schemeClr val="accent2"/>
                </a:solidFill>
                <a:sym typeface="+mn-ea"/>
              </a:rPr>
              <a:t>Experimental Results &amp; Visualization</a:t>
            </a:r>
            <a:endParaRPr lang="en-US" sz="2800" b="1">
              <a:solidFill>
                <a:schemeClr val="accent2"/>
              </a:solidFill>
              <a:sym typeface="+mn-ea"/>
            </a:endParaRPr>
          </a:p>
          <a:p>
            <a:pPr marL="0" indent="0">
              <a:buNone/>
            </a:pPr>
            <a:endParaRPr lang="en-US" sz="2800" b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2800" b="1">
                <a:solidFill>
                  <a:schemeClr val="accent2"/>
                </a:solidFill>
              </a:rPr>
              <a:t>5:</a:t>
            </a:r>
            <a:r>
              <a:rPr lang="en-US" sz="2800" b="1">
                <a:solidFill>
                  <a:schemeClr val="accent2"/>
                </a:solidFill>
                <a:sym typeface="+mn-ea"/>
              </a:rPr>
              <a:t>Conclusion &amp; Future Work</a:t>
            </a:r>
            <a:endParaRPr lang="en-US" sz="2800" b="1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sz="2800" b="1">
              <a:solidFill>
                <a:schemeClr val="accent2"/>
              </a:solidFill>
            </a:endParaRPr>
          </a:p>
        </p:txBody>
      </p:sp>
      <p:sp>
        <p:nvSpPr>
          <p:cNvPr id="3" name="Content Placeholder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440555" y="1736090"/>
            <a:ext cx="3475355" cy="4500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00"/>
          </a:p>
        </p:txBody>
      </p:sp>
      <p:sp>
        <p:nvSpPr>
          <p:cNvPr id="4" name="Content Placeholder 1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042910" y="1736090"/>
            <a:ext cx="3475355" cy="4500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38200" y="928370"/>
            <a:ext cx="10515600" cy="934985"/>
          </a:xfrm>
        </p:spPr>
        <p:txBody>
          <a:bodyPr/>
          <a:lstStyle/>
          <a:p>
            <a:r>
              <a:rPr lang="en-US"/>
              <a:t>Problem Statement </a:t>
            </a:r>
            <a:r>
              <a:rPr lang="en-US">
                <a:sym typeface="+mn-ea"/>
              </a:rPr>
              <a:t>&amp; </a:t>
            </a:r>
            <a:r>
              <a:rPr lang="en-US">
                <a:sym typeface="+mn-ea"/>
              </a:rPr>
              <a:t>Mission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652270"/>
            <a:ext cx="4018280" cy="4410075"/>
          </a:xfrm>
        </p:spPr>
        <p:txBody>
          <a:bodyPr/>
          <a:lstStyle/>
          <a:p>
            <a:r>
              <a:rPr lang="en-US" sz="1800"/>
              <a:t>Problem: The Invisible Challenge</a:t>
            </a:r>
            <a:endParaRPr lang="en-US" sz="1800"/>
          </a:p>
          <a:p>
            <a:r>
              <a:rPr lang="en-US" sz="1800"/>
              <a:t>Safety Risks:Invisible alcohol vapors and hazardous leaks pose significant threats to public health and industrial safety.</a:t>
            </a:r>
            <a:endParaRPr lang="en-US" sz="1800"/>
          </a:p>
          <a:p>
            <a:r>
              <a:rPr lang="en-US" sz="1800"/>
              <a:t>Resolution Bottleneck: Standard 10-bit microcontrollers (4.88 mVper bit) are too coarse to capture subtle fluctuations.</a:t>
            </a:r>
            <a:endParaRPr lang="en-US" sz="1800"/>
          </a:p>
          <a:p>
            <a:r>
              <a:rPr lang="en-US" sz="1800"/>
              <a:t>Interference Vulnerability: Single-sensor nodes are highly susceptible to cross-sensitivity (e.g.smoke or cleaning agents), leading to frequent false alarms.</a:t>
            </a:r>
            <a:endParaRPr lang="en-US" sz="180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4856480" y="1652270"/>
            <a:ext cx="2479040" cy="2292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Content Placeholder 1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57415" y="1652905"/>
            <a:ext cx="4409440" cy="4410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ym typeface="+mn-ea"/>
              </a:rPr>
              <a:t>Mission:Redefinine Precision Sensing</a:t>
            </a:r>
            <a:endParaRPr lang="en-US" sz="1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800">
                <a:sym typeface="+mn-ea"/>
              </a:rPr>
              <a:t>Cross-Sensing Architecture:Integrating heterogeneous sensor array(MQ-2, 3, 9, 135) to achieve multi-dimensional environmental coverage.</a:t>
            </a:r>
            <a:endParaRPr lang="en-US" sz="1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800">
                <a:sym typeface="+mn-ea"/>
              </a:rPr>
              <a:t>Signature Fingerprinting: Utilizing data fusion to extract unique "chemical fingerprints," distinguishing target events from baseline drift.</a:t>
            </a:r>
            <a:endParaRPr lang="en-US" sz="1800">
              <a:sym typeface="+mn-ea"/>
            </a:endParaRPr>
          </a:p>
          <a:p>
            <a:r>
              <a:rPr lang="en-US" sz="1800">
                <a:sym typeface="+mn-ea"/>
              </a:rPr>
              <a:t>High-Precision Insight: Leveraging 16-bit ADC resolution and PC-side algorithms to provide robust, laboratory-grade monitoring insights.</a:t>
            </a:r>
            <a:endParaRPr lang="en-US" sz="180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81550" y="3945255"/>
            <a:ext cx="2554605" cy="2461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38200" y="928370"/>
            <a:ext cx="10515600" cy="934985"/>
          </a:xfrm>
        </p:spPr>
        <p:txBody>
          <a:bodyPr/>
          <a:lstStyle/>
          <a:p>
            <a:r>
              <a:rPr lang="en-US"/>
              <a:t>Hardware: High-Precision Sensing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28040" y="1789430"/>
            <a:ext cx="3651885" cy="3223260"/>
          </a:xfrm>
        </p:spPr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sz="2000" b="1"/>
              <a:t>CoreArchitecture</a:t>
            </a:r>
            <a:endParaRPr lang="en-US" sz="2000" b="1"/>
          </a:p>
          <a:p>
            <a:pPr marL="0" indent="0">
              <a:buNone/>
            </a:pPr>
            <a:r>
              <a:rPr lang="en-US" sz="1800" b="1"/>
              <a:t>Sensor Fusion: </a:t>
            </a:r>
            <a:r>
              <a:rPr lang="en-US" sz="1800"/>
              <a:t>Integrated MQ-2, 3, 9, and 135 to capture a comprehensive "chemical fingerprint" instead of a single data point.</a:t>
            </a:r>
            <a:endParaRPr lang="en-US" sz="1800"/>
          </a:p>
          <a:p>
            <a:pPr marL="0" indent="0">
              <a:buNone/>
            </a:pPr>
            <a:r>
              <a:rPr lang="en-US" sz="1800" b="1"/>
              <a:t>Precision Upgrade: </a:t>
            </a:r>
            <a:r>
              <a:rPr lang="en-US" sz="1800"/>
              <a:t>Replaced Arduino’s internal 10-bit ADC with the ADS1115 (16-bit external ADC).</a:t>
            </a:r>
            <a:endParaRPr lang="en-US" sz="1800"/>
          </a:p>
          <a:p>
            <a:pPr marL="0" indent="0">
              <a:buNone/>
            </a:pPr>
            <a:r>
              <a:rPr lang="en-US" sz="1800"/>
              <a:t>pic left below:simple MQ3-board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ym typeface="+mn-ea"/>
              </a:rPr>
              <a:t>pic mid up:simple MQ3-board</a:t>
            </a:r>
            <a:endParaRPr lang="en-US" sz="1800">
              <a:sym typeface="+mn-ea"/>
            </a:endParaRPr>
          </a:p>
          <a:p>
            <a:pPr marL="0" indent="0">
              <a:buNone/>
            </a:pPr>
            <a:r>
              <a:rPr lang="en-US" sz="1800">
                <a:sym typeface="+mn-ea"/>
              </a:rPr>
              <a:t>pic mid below:simple MQ3-board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7932420" y="2804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05325" y="1789430"/>
            <a:ext cx="2950845" cy="15055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498715" y="1789430"/>
            <a:ext cx="4017645" cy="4780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</a:rPr>
              <a:t>Key Advantages over Standard Setup</a:t>
            </a:r>
            <a:endParaRPr lang="en-US" sz="2000" b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64x Resolution Boost</a:t>
            </a: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:Improving detection granularity.</a:t>
            </a:r>
            <a:endParaRPr lang="en-US" sz="1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Programmable Gain </a:t>
            </a: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:Capability to "zoom in" on micro-fluctuations in vapor concentration.</a:t>
            </a:r>
            <a:endParaRPr lang="en-US" sz="1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Noise Immunity</a:t>
            </a: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:Utilizing ADS1115’s internal low-drift voltage reference to eliminate Arduino power rail interference.</a:t>
            </a:r>
            <a:endParaRPr lang="en-US" sz="1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Power Stability</a:t>
            </a:r>
            <a:r>
              <a:rPr lang="en-US" sz="1800">
                <a:solidFill>
                  <a:srgbClr val="000000"/>
                </a:solidFill>
                <a:latin typeface="Arial" panose="020B0604020202020204" pitchFamily="34" charset="0"/>
              </a:rPr>
              <a:t>: Independent 5V external supply ensures reliable heater operation for the entire array</a:t>
            </a:r>
            <a:endParaRPr lang="en-US" sz="1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endParaRPr 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01" name="图片 100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8200" y="4665345"/>
            <a:ext cx="3641725" cy="1905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9925" y="3295015"/>
            <a:ext cx="3018790" cy="32753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38200" y="928370"/>
            <a:ext cx="10515600" cy="934985"/>
          </a:xfrm>
        </p:spPr>
        <p:txBody>
          <a:bodyPr/>
          <a:lstStyle/>
          <a:p>
            <a:r>
              <a:rPr lang="en-US"/>
              <a:t>Gateway &amp; Data Processing Logic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736725"/>
            <a:ext cx="3475355" cy="4372610"/>
          </a:xfrm>
        </p:spPr>
        <p:txBody>
          <a:bodyPr/>
          <a:lstStyle/>
          <a:p>
            <a:pPr marL="0" indent="0">
              <a:buNone/>
            </a:pPr>
            <a:r>
              <a:rPr lang="en-US" sz="1800" b="1"/>
              <a:t>Adaptive Feature Engineering</a:t>
            </a:r>
            <a:endParaRPr lang="en-US" sz="1800" b="1"/>
          </a:p>
          <a:p>
            <a:pPr marL="0" indent="0">
              <a:buNone/>
            </a:pPr>
            <a:r>
              <a:rPr lang="en-US" sz="1000"/>
              <a:t>(Eliminating Environmental Drift and Signal Noise)</a:t>
            </a:r>
            <a:endParaRPr lang="en-US" sz="1000"/>
          </a:p>
          <a:p>
            <a:pPr marL="0" indent="0">
              <a:buNone/>
            </a:pPr>
            <a:r>
              <a:rPr lang="en-US" sz="1400" b="1"/>
              <a:t>Dynamic Baseline Tracking:</a:t>
            </a:r>
            <a:endParaRPr lang="en-US" sz="1400" b="1"/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r>
              <a:rPr lang="en-US" sz="1400" b="1"/>
              <a:t>Robust Scaling:</a:t>
            </a:r>
            <a:endParaRPr lang="en-US" sz="1400" b="1"/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r>
              <a:rPr lang="en-US" sz="1400" b="1"/>
              <a:t>Adaptive Activation Trigger:</a:t>
            </a:r>
            <a:endParaRPr lang="en-US" sz="1400" b="1"/>
          </a:p>
          <a:p>
            <a:pPr marL="0" indent="0">
              <a:buNone/>
            </a:pPr>
            <a:endParaRPr lang="en-US" sz="1000" b="1"/>
          </a:p>
          <a:p>
            <a:pPr marL="0" indent="0">
              <a:buNone/>
            </a:pPr>
            <a:endParaRPr lang="en-US" sz="1000" b="1"/>
          </a:p>
          <a:p>
            <a:pPr marL="0" indent="0">
              <a:buNone/>
            </a:pPr>
            <a:endParaRPr lang="en-US" sz="1000" b="1"/>
          </a:p>
        </p:txBody>
      </p:sp>
      <p:sp>
        <p:nvSpPr>
          <p:cNvPr id="3" name="Content Placeholder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440555" y="1736090"/>
            <a:ext cx="3475355" cy="4500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/>
              <a:t>Multi-Sensor Fusion Scoring</a:t>
            </a:r>
            <a:endParaRPr lang="en-US" sz="1800" b="1"/>
          </a:p>
          <a:p>
            <a:pPr marL="0" indent="0">
              <a:buNone/>
            </a:pPr>
            <a:r>
              <a:rPr lang="zh-CN" altLang="en-US" sz="1000"/>
              <a:t>（</a:t>
            </a:r>
            <a:r>
              <a:rPr lang="en-US" sz="1000"/>
              <a:t>Heuristic Weighted Models for Gas Classification</a:t>
            </a:r>
            <a:r>
              <a:rPr lang="zh-CN" altLang="en-US" sz="1000"/>
              <a:t>）</a:t>
            </a:r>
            <a:endParaRPr lang="en-US" sz="1000"/>
          </a:p>
          <a:p>
            <a:pPr marL="0" algn="l">
              <a:buClrTx/>
              <a:buSzTx/>
              <a:buNone/>
            </a:pPr>
            <a:r>
              <a:rPr lang="en-US" sz="1400" b="1"/>
              <a:t>Alcohol Score (Targeted Sensitivity):</a:t>
            </a:r>
            <a:endParaRPr lang="en-US" sz="1400" b="1"/>
          </a:p>
          <a:p>
            <a:pPr marL="0" algn="l">
              <a:buClrTx/>
              <a:buSzTx/>
              <a:buNone/>
            </a:pPr>
            <a:endParaRPr lang="en-US" sz="1400" b="1"/>
          </a:p>
          <a:p>
            <a:pPr marL="0" algn="l">
              <a:buClrTx/>
              <a:buSzTx/>
              <a:buNone/>
            </a:pPr>
            <a:endParaRPr lang="en-US" sz="1400" b="1"/>
          </a:p>
          <a:p>
            <a:pPr marL="0" algn="l">
              <a:buClrTx/>
              <a:buSzTx/>
              <a:buNone/>
            </a:pPr>
            <a:r>
              <a:rPr lang="en-US" sz="1400" b="1"/>
              <a:t>Smoke Score (Multi-Channel Sync):</a:t>
            </a:r>
            <a:endParaRPr lang="en-US" sz="1400" b="1"/>
          </a:p>
          <a:p>
            <a:pPr marL="0" algn="l">
              <a:buClrTx/>
              <a:buSzTx/>
              <a:buNone/>
            </a:pPr>
            <a:endParaRPr lang="en-US" sz="1400" b="1"/>
          </a:p>
          <a:p>
            <a:pPr marL="0" algn="l">
              <a:buClrTx/>
              <a:buSzTx/>
              <a:buNone/>
            </a:pPr>
            <a:endParaRPr lang="en-US" sz="1400" b="1"/>
          </a:p>
          <a:p>
            <a:pPr marL="0" algn="l">
              <a:buClrTx/>
              <a:buSzTx/>
              <a:buNone/>
            </a:pPr>
            <a:r>
              <a:rPr lang="en-US" sz="1400" b="1"/>
              <a:t>Air Quality (Broad Spectrum):</a:t>
            </a:r>
            <a:endParaRPr lang="en-US" sz="1400" b="1"/>
          </a:p>
          <a:p>
            <a:pPr marL="0" indent="0">
              <a:buNone/>
            </a:pPr>
            <a:endParaRPr lang="en-US" sz="1000"/>
          </a:p>
        </p:txBody>
      </p:sp>
      <p:sp>
        <p:nvSpPr>
          <p:cNvPr id="4" name="Content Placeholder 1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042910" y="1736090"/>
            <a:ext cx="3475355" cy="4500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/>
              <a:t>System Health &amp; Reliability</a:t>
            </a:r>
            <a:endParaRPr lang="en-US" sz="1800" b="1"/>
          </a:p>
          <a:p>
            <a:pPr marL="0" indent="0">
              <a:buNone/>
            </a:pPr>
            <a:r>
              <a:rPr lang="zh-CN" altLang="en-US" sz="1000"/>
              <a:t>（</a:t>
            </a:r>
            <a:r>
              <a:rPr lang="en-US" sz="1000"/>
              <a:t>Real-Time Data Quality Metrics</a:t>
            </a:r>
            <a:r>
              <a:rPr lang="zh-CN" altLang="en-US" sz="1000"/>
              <a:t>）</a:t>
            </a:r>
            <a:endParaRPr lang="zh-CN" altLang="en-US" sz="1000"/>
          </a:p>
          <a:p>
            <a:pPr marL="0" indent="0">
              <a:buNone/>
            </a:pPr>
            <a:r>
              <a:rPr lang="en-US" sz="1400" b="1"/>
              <a:t>Core Metric: </a:t>
            </a:r>
            <a:endParaRPr lang="en-US" sz="1400" b="1"/>
          </a:p>
          <a:p>
            <a:pPr marL="0" indent="0">
              <a:buNone/>
            </a:pPr>
            <a:r>
              <a:rPr lang="en-US" sz="1400"/>
              <a:t>Stability (70%) + Signal Quality (30%)</a:t>
            </a:r>
            <a:endParaRPr lang="en-US" sz="1400"/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r>
              <a:rPr lang="en-US" sz="1400" b="1"/>
              <a:t>Reliability Formula:</a:t>
            </a:r>
            <a:endParaRPr lang="en-US" sz="1400" b="1"/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endParaRPr lang="en-US" sz="1400" b="1"/>
          </a:p>
          <a:p>
            <a:pPr marL="0" indent="0">
              <a:buNone/>
            </a:pPr>
            <a:r>
              <a:rPr lang="en-US" sz="1400" b="1"/>
              <a:t>SNR Mapping (Signal-to-Noise Ratio):</a:t>
            </a:r>
            <a:endParaRPr lang="en-US" sz="1400" b="1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77240" y="2726690"/>
            <a:ext cx="3024505" cy="4006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82880" y="3677285"/>
            <a:ext cx="3053715" cy="5232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65760" y="4578350"/>
            <a:ext cx="4551680" cy="6096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440555" y="2727325"/>
            <a:ext cx="3478530" cy="4000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440555" y="3798570"/>
            <a:ext cx="3479800" cy="34099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440555" y="4730750"/>
            <a:ext cx="3474720" cy="4572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042910" y="3799205"/>
            <a:ext cx="3966845" cy="40132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042910" y="4618990"/>
            <a:ext cx="2399665" cy="56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38200" y="928370"/>
            <a:ext cx="10515600" cy="934985"/>
          </a:xfrm>
        </p:spPr>
        <p:txBody>
          <a:bodyPr/>
          <a:lstStyle/>
          <a:p>
            <a:r>
              <a:rPr lang="en-US"/>
              <a:t>Experimental Results &amp; Visualization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862455"/>
            <a:ext cx="10515600" cy="424688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38200" y="928370"/>
            <a:ext cx="10515600" cy="934985"/>
          </a:xfrm>
        </p:spPr>
        <p:txBody>
          <a:bodyPr/>
          <a:lstStyle/>
          <a:p>
            <a:r>
              <a:rPr lang="en-US"/>
              <a:t>Conclusion &amp; Future Work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38200" y="1862455"/>
            <a:ext cx="3778885" cy="4246880"/>
          </a:xfrm>
        </p:spPr>
        <p:txBody>
          <a:bodyPr/>
          <a:lstStyle/>
          <a:p>
            <a:pPr marL="0" indent="0">
              <a:buNone/>
            </a:pPr>
            <a:r>
              <a:rPr lang="en-US" sz="2000" b="1"/>
              <a:t>Conclusion: A Scalable Multi-Channel Framework</a:t>
            </a:r>
            <a:endParaRPr lang="en-US" sz="2000" b="1"/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r>
              <a:rPr lang="zh-CN" altLang="en-US" sz="2000" b="1"/>
              <a:t>Success:</a:t>
            </a:r>
            <a:r>
              <a:rPr lang="zh-CN" altLang="en-US" sz="2000"/>
              <a:t> Developed a</a:t>
            </a:r>
            <a:r>
              <a:rPr lang="en-US" altLang="zh-CN" sz="2000"/>
              <a:t> </a:t>
            </a:r>
            <a:r>
              <a:rPr lang="zh-CN" altLang="en-US" sz="2000"/>
              <a:t>functional, high-precision IoT hub capable of signature recognition for alcohol and smoke.</a:t>
            </a:r>
            <a:endParaRPr lang="zh-CN" altLang="en-US" sz="2000"/>
          </a:p>
          <a:p>
            <a:pPr marL="0" indent="0">
              <a:buNone/>
            </a:pPr>
            <a:endParaRPr lang="zh-CN" altLang="en-US" sz="2000" b="1"/>
          </a:p>
          <a:p>
            <a:pPr marL="0" indent="0">
              <a:buNone/>
            </a:pPr>
            <a:r>
              <a:rPr lang="zh-CN" altLang="en-US" sz="2000" b="1"/>
              <a:t>Reliability: </a:t>
            </a:r>
            <a:r>
              <a:rPr lang="zh-CN" altLang="en-US" sz="2000"/>
              <a:t>Integrated real-time health monitoring (SNR &amp; Packet Loss) to ensure data integrity.</a:t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8214360" y="1863090"/>
            <a:ext cx="3597275" cy="4088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</a:rPr>
              <a:t>Future Work：</a:t>
            </a:r>
            <a:endParaRPr lang="en-US" sz="2000" b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Hardware：</a:t>
            </a:r>
            <a:endParaRPr lang="zh-CN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t>Sensor Calibration: Address the lower-than-expected sensitivity of the MQ-3 sensor through advanced multi-point calibration.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t>Broadening Scope: Expand the testing database to include a wider variety of volatile gases.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t>Stress Testing: Evaluate system performance under extreme environmental conditions (high heat/humidity).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zh-CN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software：</a:t>
            </a:r>
            <a:endParaRPr lang="zh-CN" altLang="en-US" sz="1200" b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t>Latency Reduction: Optimize the data polling cycle to minimize waveform delay between sensing and visualization.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t>Communication Stability: Resolve intermittent interface instability to lower the packet loss rate.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t>Robust Protocol: Implement error-correction algorithms to stabilize the serial-to-web data stream.</a:t>
            </a: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06" name="图片 105"/>
          <p:cNvPicPr/>
          <p:nvPr/>
        </p:nvPicPr>
        <p:blipFill>
          <a:blip r:embed="rId1"/>
          <a:stretch>
            <a:fillRect/>
          </a:stretch>
        </p:blipFill>
        <p:spPr>
          <a:xfrm>
            <a:off x="4553585" y="2085340"/>
            <a:ext cx="3660775" cy="36436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7200" b="1"/>
              <a:t>THE END</a:t>
            </a:r>
            <a:br>
              <a:rPr lang="en-US" sz="5400" b="1"/>
            </a:br>
            <a:r>
              <a:rPr lang="en-US" sz="3200"/>
              <a:t>THANKS FOR WATCHING!</a:t>
            </a:r>
            <a:endParaRPr lang="en-US" sz="3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commondata" val="eyJoZGlkIjoiYjY2ZTQ1OWZlMjBmZjJiZjc0MWZkMWI4ZmM4ZDE0MjgifQ=="/>
</p:tagLst>
</file>

<file path=ppt/theme/theme1.xml><?xml version="1.0" encoding="utf-8"?>
<a:theme xmlns:a="http://schemas.openxmlformats.org/drawingml/2006/main" name="Mizzou Brand 1">
  <a:themeElements>
    <a:clrScheme name="UMKC Theme">
      <a:dk1>
        <a:srgbClr val="005CB8"/>
      </a:dk1>
      <a:lt1>
        <a:srgbClr val="FFFFFF"/>
      </a:lt1>
      <a:dk2>
        <a:srgbClr val="EFCC02"/>
      </a:dk2>
      <a:lt2>
        <a:srgbClr val="C6C8CA"/>
      </a:lt2>
      <a:accent1>
        <a:srgbClr val="3DB3E3"/>
      </a:accent1>
      <a:accent2>
        <a:srgbClr val="004987"/>
      </a:accent2>
      <a:accent3>
        <a:srgbClr val="437CBF"/>
      </a:accent3>
      <a:accent4>
        <a:srgbClr val="FEC52B"/>
      </a:accent4>
      <a:accent5>
        <a:srgbClr val="F16725"/>
      </a:accent5>
      <a:accent6>
        <a:srgbClr val="00263D"/>
      </a:accent6>
      <a:hlink>
        <a:srgbClr val="005CB8"/>
      </a:hlink>
      <a:folHlink>
        <a:srgbClr val="004987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Mizzou Brand 1">
  <a:themeElements>
    <a:clrScheme name="UMKC Theme">
      <a:dk1>
        <a:srgbClr val="005CB8"/>
      </a:dk1>
      <a:lt1>
        <a:srgbClr val="FFFFFF"/>
      </a:lt1>
      <a:dk2>
        <a:srgbClr val="EFCC02"/>
      </a:dk2>
      <a:lt2>
        <a:srgbClr val="C6C8CA"/>
      </a:lt2>
      <a:accent1>
        <a:srgbClr val="3DB3E3"/>
      </a:accent1>
      <a:accent2>
        <a:srgbClr val="004987"/>
      </a:accent2>
      <a:accent3>
        <a:srgbClr val="437CBF"/>
      </a:accent3>
      <a:accent4>
        <a:srgbClr val="FEC52B"/>
      </a:accent4>
      <a:accent5>
        <a:srgbClr val="F16725"/>
      </a:accent5>
      <a:accent6>
        <a:srgbClr val="00263D"/>
      </a:accent6>
      <a:hlink>
        <a:srgbClr val="005CB8"/>
      </a:hlink>
      <a:folHlink>
        <a:srgbClr val="004987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item1.xml>��
</file>

<file path=customXml/item2.xml>��
</file>

<file path=customXml/item3.xml>��
</file>

<file path=customXml/itemProps17.xml><?xml version="1.0" encoding="utf-8"?>
<ds:datastoreItem xmlns:ds="http://schemas.openxmlformats.org/officeDocument/2006/customXml" ds:itemID="{9E2021F5-38F2-42C3-891D-FC1F9792D7E1}">
  <ds:schemaRefs/>
</ds:datastoreItem>
</file>

<file path=customXml/itemProps18.xml><?xml version="1.0" encoding="utf-8"?>
<ds:datastoreItem xmlns:ds="http://schemas.openxmlformats.org/officeDocument/2006/customXml" ds:itemID="{F3B4499D-9766-4EC1-8954-90C1E160E434}">
  <ds:schemaRefs/>
</ds:datastoreItem>
</file>

<file path=customXml/itemProps19.xml><?xml version="1.0" encoding="utf-8"?>
<ds:datastoreItem xmlns:ds="http://schemas.openxmlformats.org/officeDocument/2006/customXml" ds:itemID="{E092DC28-91BD-48D0-834F-032E3E25C4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Mizzou Brand 1</Template>
  <TotalTime>0</TotalTime>
  <Words>3432</Words>
  <Application>WPS 演示</Application>
  <PresentationFormat>Widescreen</PresentationFormat>
  <Paragraphs>110</Paragraphs>
  <Slides>8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Unicode MS</vt:lpstr>
      <vt:lpstr>Calibri</vt:lpstr>
      <vt:lpstr>等线</vt:lpstr>
      <vt:lpstr>Aptos</vt:lpstr>
      <vt:lpstr>Segoe Print</vt:lpstr>
      <vt:lpstr>等线 Light</vt:lpstr>
      <vt:lpstr>Aptos Display</vt:lpstr>
      <vt:lpstr>Mizzou Brand 1</vt:lpstr>
      <vt:lpstr>1_Mizzou Brand 1</vt:lpstr>
      <vt:lpstr>TITLE GOES HERE</vt:lpstr>
      <vt:lpstr>Gateway &amp; Data Processing Logic</vt:lpstr>
      <vt:lpstr>PowerPoint 演示文稿</vt:lpstr>
      <vt:lpstr>Mission &amp; Problem Statement</vt:lpstr>
      <vt:lpstr>Mission &amp; Problem Statement</vt:lpstr>
      <vt:lpstr>Gateway &amp; Data Processing Logic</vt:lpstr>
      <vt:lpstr>Gateway &amp; Data Processing Logic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Church, Jessica</dc:creator>
  <cp:lastModifiedBy>黄泽龙</cp:lastModifiedBy>
  <cp:revision>6</cp:revision>
  <dcterms:created xsi:type="dcterms:W3CDTF">2025-09-17T19:42:00Z</dcterms:created>
  <dcterms:modified xsi:type="dcterms:W3CDTF">2026-04-06T02:50:32Z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0x010100D0E19D1F250E694BAAD8C54BFD6B67B2</vt:lpwstr>
  </property>
  <property fmtid="{D5CDD505-2E9C-101B-9397-08002B2CF9AE}" pid="3" name="MediaServiceImageTags">
    <vt:lpwstr/>
  </property>
  <property fmtid="{D5CDD505-2E9C-101B-9397-08002B2CF9AE}" pid="4" name="ICV">
    <vt:lpwstr>8DA96D7E9D9244DABEA8352AF166C730_13</vt:lpwstr>
  </property>
  <property fmtid="{D5CDD505-2E9C-101B-9397-08002B2CF9AE}" pid="5" name="KSOProductBuildVer">
    <vt:lpwstr>2052-12.1.0.16120</vt:lpwstr>
  </property>
</Properties>
</file>