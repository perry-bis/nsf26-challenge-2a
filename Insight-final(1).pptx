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58" r:id="rId5"/>
  </p:sldMasterIdLst>
  <p:notesMasterIdLst>
    <p:notesMasterId r:id="rId21"/>
  </p:notesMasterIdLst>
  <p:sldIdLst>
    <p:sldId id="256" r:id="rId6"/>
    <p:sldId id="283" r:id="rId7"/>
    <p:sldId id="259" r:id="rId8"/>
    <p:sldId id="279" r:id="rId9"/>
    <p:sldId id="280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82" r:id="rId19"/>
    <p:sldId id="268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DB719"/>
    <a:srgbClr val="F0B82C"/>
    <a:srgbClr val="DBDBDC"/>
    <a:srgbClr val="939496"/>
    <a:srgbClr val="F1B82D"/>
    <a:srgbClr val="FAC822"/>
    <a:srgbClr val="F3B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gs" Target="tags/tag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5:28:33.9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24418,'14212'0'0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5:28:38.1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24418,'14422'0'0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5:28:54.3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3931 24549,'0'-3931'0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5:28:59.6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3931 24549,'0'-3931'0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05:42:57.1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950 31 24575,'-5'-3'0,"0"1"0,1-1 0,-1 1 0,-1 0 0,1 0 0,0 0 0,0 1 0,-1-1 0,1 1 0,-1 1 0,-6-1 0,2 0 0,-71-6 0,-132 5 0,100 4 0,107-2 0,1 0 0,-1 0 0,1 1 0,-1 0 0,1 0 0,-1 0 0,1 0 0,-10 5 0,13-5 0,-1 1 0,1-1 0,0 1 0,0 0 0,0 0 0,0 0 0,0 0 0,0 0 0,1 0 0,-1 0 0,1 1 0,-1-1 0,1 0 0,0 1 0,0-1 0,0 1 0,0 0 0,1-1 0,-1 1 0,0 2 0,-1 5 0,1 0 0,0-1 0,0 1 0,1 0 0,0 0 0,1 0 0,0-1 0,1 1 0,0 0 0,0-1 0,1 0 0,0 1 0,0-1 0,9 15 0,1-5 0,0 2 0,-2-1 0,16 40 0,-7-7 0,-10-28 0,-1 1 0,-1 0 0,9 53 0,-5-20 0,-8-43 0,0-1 0,1 19 0,-6-31 0,1-1 0,0 1 0,0-1 0,-1 0 0,1 1 0,-1-1 0,0 1 0,0-1 0,1 0 0,-2 0 0,1 0 0,0 1 0,0-1 0,-1 0 0,1-1 0,-1 1 0,1 0 0,-1 0 0,0-1 0,0 1 0,0-1 0,0 1 0,0-1 0,0 0 0,0 0 0,-1 0 0,-2 1 0,-7 3 0,-2 0 0,1-1 0,-22 3 0,27-6 0,-24 4 0,1-3 0,-61-1 0,-19 0 0,95 1 0,0 0 0,1 1 0,-1 1 0,0 1 0,1 0 0,0 1 0,-15 9 0,28-15 0,1 1 0,0-1 0,-1 1 0,1 0 0,0 0 0,0 0 0,0 0 0,-1 0 0,1 0 0,0 0 0,0 0 0,1 0 0,-1 0 0,0 0 0,0 0 0,0 1 0,1-1 0,-1 0 0,1 1 0,-1-1 0,1 0 0,0 1 0,-1-1 0,1 1 0,0-1 0,0 1 0,0-1 0,0 1 0,0-1 0,0 0 0,1 3 0,0-2 0,0 0 0,0 0 0,0 0 0,1 0 0,-1 0 0,1 0 0,-1 0 0,1-1 0,0 1 0,-1 0 0,1-1 0,0 0 0,0 1 0,0-1 0,0 0 0,0 0 0,1 0 0,3 1 0,61 20 0,0 2 0,102 54 0,-111-40 0,-36-23 0,34 18 0,-32-22 0,-2 1 0,1 0 0,-2 2 0,0 1 0,0 0 0,24 25 0,-39-35 0,-1 1 0,0 0 0,0 1 0,0-1 0,-1 1 0,0-1 0,0 2 0,-1-1 0,0 0 0,0 0 0,-1 1 0,1 0 0,-2-1 0,1 1 0,-1 0 0,0 14 0,-1 242 0,-3-103 0,3 504 0,2-643 0,1 0 0,0 0 0,2-1 0,0 1 0,11 26 0,9 38 0,-13-42 0,-7-26 0,0 0 0,2 24 0,-7-36 0,1 0 0,-1 0 0,2 0 0,-1-1 0,1 1 0,-1 0 0,6 10 0,-5-14 0,0 1 0,-1-1 0,1 0 0,0 0 0,0 0 0,0 0 0,1 0 0,-1 0 0,0 0 0,1-1 0,-1 1 0,1-1 0,0 0 0,-1 0 0,1 0 0,0 0 0,0 0 0,4 0 0,4 1 0,1 0 0,-1-1 0,1-1 0,0 0 0,-1 0 0,1-1 0,12-3 0,-20 3 0,0 1 0,0-1 0,0-1 0,0 1 0,0 0 0,-1-1 0,1 0 0,-1 0 0,1 0 0,-1 0 0,0-1 0,0 1 0,0-1 0,0 0 0,0 0 0,-1 0 0,1 0 0,-1 0 0,0-1 0,0 1 0,0-1 0,0 1 0,2-8 0,-1-2-114,-1 1 1,-1-1-1,1 0 0,-2 0 0,0 0 1,-1 0-1,0 1 0,0-1 0,-2 0 1,0 1-1,-4-14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032E0-C0F1-437B-A1ED-27FF9758DF48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A12DB-C476-4E44-8A7E-EB4258CE23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379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A12DB-C476-4E44-8A7E-EB4258CE23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09886" y="1240897"/>
            <a:ext cx="10369973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09886" y="3628497"/>
            <a:ext cx="10369973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10515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9886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1"/>
          </p:nvPr>
        </p:nvSpPr>
        <p:spPr>
          <a:xfrm>
            <a:off x="6176682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2280135"/>
            <a:ext cx="5157787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838200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2280135"/>
            <a:ext cx="5183188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2"/>
          </p:nvPr>
        </p:nvSpPr>
        <p:spPr>
          <a:xfrm>
            <a:off x="6176682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1013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41943"/>
            <a:ext cx="6172200" cy="3811588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sz="20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sz="16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41946"/>
            <a:ext cx="6172200" cy="381158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09886" y="1240897"/>
            <a:ext cx="10369973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09886" y="3628497"/>
            <a:ext cx="10369973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10515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9886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1"/>
          </p:nvPr>
        </p:nvSpPr>
        <p:spPr>
          <a:xfrm>
            <a:off x="6176682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2280135"/>
            <a:ext cx="5157787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838200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2280135"/>
            <a:ext cx="5183188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2"/>
          </p:nvPr>
        </p:nvSpPr>
        <p:spPr>
          <a:xfrm>
            <a:off x="6176682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1013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41943"/>
            <a:ext cx="6172200" cy="3811588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sz="20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sz="16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41946"/>
            <a:ext cx="6172200" cy="381158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2845"/>
            <a:ext cx="12192000" cy="932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84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65400"/>
            <a:ext cx="10515600" cy="361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UMKC logo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38200" y="-2845"/>
            <a:ext cx="1639663" cy="903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2845"/>
            <a:ext cx="12192000" cy="932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84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65400"/>
            <a:ext cx="10515600" cy="361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UMKC logo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38200" y="-2845"/>
            <a:ext cx="1639663" cy="903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tags" Target="../tags/tag9.xml"/><Relationship Id="rId16" Type="http://schemas.openxmlformats.org/officeDocument/2006/relationships/image" Target="../media/image11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12.xml"/><Relationship Id="rId15" Type="http://schemas.openxmlformats.org/officeDocument/2006/relationships/image" Target="../media/image10.png"/><Relationship Id="rId10" Type="http://schemas.openxmlformats.org/officeDocument/2006/relationships/tags" Target="../tags/tag17.xml"/><Relationship Id="rId19" Type="http://schemas.openxmlformats.org/officeDocument/2006/relationships/image" Target="../media/image14.pn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.xml"/><Relationship Id="rId5" Type="http://schemas.openxmlformats.org/officeDocument/2006/relationships/image" Target="../media/image1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9886" y="1240897"/>
            <a:ext cx="10369973" cy="2387600"/>
          </a:xfrm>
        </p:spPr>
        <p:txBody>
          <a:bodyPr/>
          <a:lstStyle/>
          <a:p>
            <a:r>
              <a:rPr lang="en-US"/>
              <a:t>NSF-NRT  </a:t>
            </a:r>
            <a:r>
              <a:rPr lang="en-US" sz="2400"/>
              <a:t>challenge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886" y="3628497"/>
            <a:ext cx="10369973" cy="1655762"/>
          </a:xfrm>
        </p:spPr>
        <p:txBody>
          <a:bodyPr/>
          <a:lstStyle/>
          <a:p>
            <a:r>
              <a:rPr lang="en-US" b="1"/>
              <a:t>Team insight</a:t>
            </a:r>
            <a:r>
              <a:rPr lang="en-US"/>
              <a:t> : ppt and product made by Zelong Huang and Perry Liang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 b="1"/>
              <a:t>Contents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2115185"/>
            <a:ext cx="8194675" cy="4290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>
                <a:solidFill>
                  <a:schemeClr val="accent2"/>
                </a:solidFill>
              </a:rPr>
              <a:t>1:</a:t>
            </a:r>
            <a:r>
              <a:rPr lang="en-US" sz="3200" b="1">
                <a:solidFill>
                  <a:schemeClr val="accent2"/>
                </a:solidFill>
                <a:sym typeface="+mn-ea"/>
              </a:rPr>
              <a:t>Problem Statement &amp; Mission</a:t>
            </a:r>
          </a:p>
          <a:p>
            <a:pPr marL="0" indent="0">
              <a:buNone/>
            </a:pPr>
            <a:endParaRPr lang="en-US" sz="32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3200" b="1">
                <a:solidFill>
                  <a:schemeClr val="accent2"/>
                </a:solidFill>
              </a:rPr>
              <a:t>2:</a:t>
            </a:r>
            <a:r>
              <a:rPr lang="en-US" sz="3200" b="1">
                <a:solidFill>
                  <a:schemeClr val="accent2"/>
                </a:solidFill>
                <a:sym typeface="+mn-ea"/>
              </a:rPr>
              <a:t>Hardware: High-Precision Sensing</a:t>
            </a:r>
          </a:p>
          <a:p>
            <a:pPr marL="0" indent="0">
              <a:buNone/>
            </a:pPr>
            <a:endParaRPr lang="en-US" sz="32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3200" b="1">
                <a:solidFill>
                  <a:schemeClr val="accent2"/>
                </a:solidFill>
              </a:rPr>
              <a:t>3:</a:t>
            </a:r>
            <a:r>
              <a:rPr lang="en-US" sz="3200" b="1">
                <a:solidFill>
                  <a:schemeClr val="accent2"/>
                </a:solidFill>
                <a:sym typeface="+mn-ea"/>
              </a:rPr>
              <a:t>Gateway &amp; Data Processing Logic</a:t>
            </a:r>
          </a:p>
          <a:p>
            <a:pPr marL="0" indent="0">
              <a:buNone/>
            </a:pPr>
            <a:endParaRPr lang="en-US" sz="32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3200" b="1">
                <a:solidFill>
                  <a:schemeClr val="accent2"/>
                </a:solidFill>
              </a:rPr>
              <a:t>4:</a:t>
            </a:r>
            <a:r>
              <a:rPr lang="en-US" sz="3200" b="1">
                <a:solidFill>
                  <a:schemeClr val="accent2"/>
                </a:solidFill>
                <a:sym typeface="+mn-ea"/>
              </a:rPr>
              <a:t>Conclusion &amp; Future Work</a:t>
            </a:r>
            <a:endParaRPr lang="en-US" sz="3200" b="1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3200" b="1">
              <a:solidFill>
                <a:schemeClr val="accent2"/>
              </a:solidFill>
            </a:endParaRPr>
          </a:p>
        </p:txBody>
      </p:sp>
      <p:sp>
        <p:nvSpPr>
          <p:cNvPr id="3" name="Content Placeholder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440555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4" name="Content Placeholder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42910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Problem Statement </a:t>
            </a:r>
            <a:r>
              <a:rPr lang="en-US">
                <a:sym typeface="+mn-ea"/>
              </a:rPr>
              <a:t>&amp; Mission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652270"/>
            <a:ext cx="4018280" cy="4410075"/>
          </a:xfrm>
        </p:spPr>
        <p:txBody>
          <a:bodyPr/>
          <a:lstStyle/>
          <a:p>
            <a:r>
              <a:rPr lang="en-US" sz="1800"/>
              <a:t>Problem: The Invisible Challenge</a:t>
            </a:r>
          </a:p>
          <a:p>
            <a:r>
              <a:rPr lang="en-US" sz="1800"/>
              <a:t>Safety Risks:Invisible alcohol vapors and hazardous leaks pose significant threats to public health and industrial safety.</a:t>
            </a:r>
          </a:p>
          <a:p>
            <a:r>
              <a:rPr lang="en-US" sz="1800"/>
              <a:t>Resolution Bottleneck: Standard 10-bit microcontrollers (4.88 mVper bit) are too coarse to capture subtle fluctuations.</a:t>
            </a:r>
          </a:p>
          <a:p>
            <a:r>
              <a:rPr lang="en-US" sz="1800"/>
              <a:t>Interference Vulnerability: Single-sensor nodes are highly susceptible to cross-sensitivity (e.g.smoke or cleaning agents), leading to frequent false alarms.</a:t>
            </a:r>
          </a:p>
        </p:txBody>
      </p:sp>
      <p:pic>
        <p:nvPicPr>
          <p:cNvPr id="100" name="图片 99"/>
          <p:cNvPicPr/>
          <p:nvPr/>
        </p:nvPicPr>
        <p:blipFill>
          <a:blip r:embed="rId4"/>
          <a:stretch>
            <a:fillRect/>
          </a:stretch>
        </p:blipFill>
        <p:spPr>
          <a:xfrm>
            <a:off x="4856480" y="1652270"/>
            <a:ext cx="2479040" cy="2292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257415" y="1652905"/>
            <a:ext cx="4409440" cy="4410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ym typeface="+mn-ea"/>
              </a:rPr>
              <a:t>Mission:Redefinine Precision Sensing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>
                <a:sym typeface="+mn-ea"/>
              </a:rPr>
              <a:t>Cross-Sensing Architecture:Integrating heterogeneous sensor array(MQ-2, 3, 9, 135) to achieve multi-dimensional environmental coverage.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>
                <a:sym typeface="+mn-ea"/>
              </a:rPr>
              <a:t>Signature Fingerprinting: Utilizing data fusion to extract unique "chemical fingerprints," distinguishing target events from baseline drift.</a:t>
            </a:r>
          </a:p>
          <a:p>
            <a:r>
              <a:rPr lang="en-US" sz="1800">
                <a:sym typeface="+mn-ea"/>
              </a:rPr>
              <a:t>High-Precision Insight: Leveraging 16-bit ADC resolution and PC-side algorithms to provide robust, laboratory-grade monitoring insights.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81550" y="3945255"/>
            <a:ext cx="2554605" cy="2461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Hardware: High-Precision Sensing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28040" y="1789430"/>
            <a:ext cx="3651885" cy="322326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000" b="1"/>
              <a:t>CoreArchitecture</a:t>
            </a:r>
          </a:p>
          <a:p>
            <a:pPr marL="0" indent="0">
              <a:buNone/>
            </a:pPr>
            <a:r>
              <a:rPr lang="en-US" sz="1800" b="1"/>
              <a:t>Sensor Fusion: </a:t>
            </a:r>
            <a:r>
              <a:rPr lang="en-US" sz="1800"/>
              <a:t>Integrated MQ-2, 3, 9, and 135 to capture a comprehensive "chemical fingerprint" instead of a single data point.</a:t>
            </a:r>
          </a:p>
          <a:p>
            <a:pPr marL="0" indent="0">
              <a:buNone/>
            </a:pPr>
            <a:r>
              <a:rPr lang="en-US" sz="1800" b="1"/>
              <a:t>Precision Upgrade: </a:t>
            </a:r>
            <a:r>
              <a:rPr lang="en-US" sz="1800"/>
              <a:t>Replaced Arduino’s internal 10-bit ADC with the ADS1115 (16-bit external ADC).</a:t>
            </a:r>
          </a:p>
          <a:p>
            <a:pPr marL="0" indent="0">
              <a:buNone/>
            </a:pPr>
            <a:r>
              <a:rPr lang="en-US" sz="1800"/>
              <a:t>pic left below:simple MQ3-board</a:t>
            </a:r>
          </a:p>
          <a:p>
            <a:pPr marL="0" indent="0">
              <a:buNone/>
            </a:pPr>
            <a:r>
              <a:rPr lang="en-US" sz="1800">
                <a:sym typeface="+mn-ea"/>
              </a:rPr>
              <a:t>pic mid up:MQ239135-board</a:t>
            </a:r>
          </a:p>
          <a:p>
            <a:pPr marL="0" indent="0">
              <a:buNone/>
            </a:pPr>
            <a:r>
              <a:rPr lang="en-US" sz="1800">
                <a:sym typeface="+mn-ea"/>
              </a:rPr>
              <a:t>pic mid below:board design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7932420" y="2804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05325" y="1789430"/>
            <a:ext cx="2950845" cy="15055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498715" y="1789430"/>
            <a:ext cx="4017645" cy="4780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Key Advantages over Standard Setup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64x Resolution Boost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:Improving detection granularity.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Programmable Gain 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:Capability to "zoom in" on micro-fluctuations in vapor concentration.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Power Stability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 Independent 5V external supply ensures reliable heater operation for the entire array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1" name="图片 100"/>
          <p:cNvPicPr/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8200" y="4665345"/>
            <a:ext cx="3641725" cy="1905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925" y="3295015"/>
            <a:ext cx="3018790" cy="3275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Gateway &amp; Data Processing Logic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736725"/>
            <a:ext cx="3475355" cy="4372610"/>
          </a:xfrm>
        </p:spPr>
        <p:txBody>
          <a:bodyPr/>
          <a:lstStyle/>
          <a:p>
            <a:pPr marL="0" indent="0">
              <a:buNone/>
            </a:pPr>
            <a:r>
              <a:rPr lang="en-US" sz="1800" b="1"/>
              <a:t>Adaptive Feature Engineering</a:t>
            </a:r>
          </a:p>
          <a:p>
            <a:pPr marL="0" indent="0">
              <a:buNone/>
            </a:pPr>
            <a:r>
              <a:rPr lang="en-US" sz="1000"/>
              <a:t>(Eliminating Environmental Drift and Signal Noise)</a:t>
            </a:r>
          </a:p>
          <a:p>
            <a:pPr marL="0" indent="0">
              <a:buNone/>
            </a:pPr>
            <a:r>
              <a:rPr lang="en-US" sz="1400" b="1"/>
              <a:t>Dynamic Baseline Tracking:</a:t>
            </a:r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Robust Scaling:</a:t>
            </a:r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Adaptive Activation Trigger:</a:t>
            </a:r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endParaRPr lang="en-US" sz="1000" b="1"/>
          </a:p>
        </p:txBody>
      </p:sp>
      <p:sp>
        <p:nvSpPr>
          <p:cNvPr id="3" name="Content Placeholder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440555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Multi-Sensor Fusion Scoring</a:t>
            </a:r>
          </a:p>
          <a:p>
            <a:pPr marL="0" indent="0">
              <a:buNone/>
            </a:pPr>
            <a:r>
              <a:rPr lang="zh-CN" altLang="en-US" sz="1000"/>
              <a:t>（</a:t>
            </a:r>
            <a:r>
              <a:rPr lang="en-US" sz="1000"/>
              <a:t>Heuristic Weighted Models for Gas Classification</a:t>
            </a:r>
            <a:r>
              <a:rPr lang="zh-CN" altLang="en-US" sz="1000"/>
              <a:t>）</a:t>
            </a:r>
            <a:endParaRPr lang="en-US" sz="1000"/>
          </a:p>
          <a:p>
            <a:pPr marL="0" algn="l">
              <a:buClrTx/>
              <a:buSzTx/>
              <a:buNone/>
            </a:pPr>
            <a:r>
              <a:rPr lang="en-US" sz="1400" b="1"/>
              <a:t>Alcohol Score (Targeted Sensitivity):</a:t>
            </a:r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r>
              <a:rPr lang="en-US" sz="1400" b="1"/>
              <a:t>Smoke Score (Multi-Channel Sync):</a:t>
            </a:r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r>
              <a:rPr lang="en-US" sz="1400" b="1"/>
              <a:t>Air Quality (Broad Spectrum):</a:t>
            </a:r>
          </a:p>
          <a:p>
            <a:pPr marL="0" indent="0">
              <a:buNone/>
            </a:pPr>
            <a:endParaRPr lang="en-US" sz="1000"/>
          </a:p>
        </p:txBody>
      </p:sp>
      <p:sp>
        <p:nvSpPr>
          <p:cNvPr id="4" name="Content Placeholder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42910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System Health &amp; Reliability</a:t>
            </a:r>
          </a:p>
          <a:p>
            <a:pPr marL="0" indent="0">
              <a:buNone/>
            </a:pPr>
            <a:r>
              <a:rPr lang="zh-CN" altLang="en-US" sz="1000"/>
              <a:t>（</a:t>
            </a:r>
            <a:r>
              <a:rPr lang="en-US" sz="1000"/>
              <a:t>Real-Time Data Quality Metrics</a:t>
            </a:r>
            <a:r>
              <a:rPr lang="zh-CN" altLang="en-US" sz="1000"/>
              <a:t>）</a:t>
            </a:r>
          </a:p>
          <a:p>
            <a:pPr marL="0" indent="0">
              <a:buNone/>
            </a:pPr>
            <a:r>
              <a:rPr lang="en-US" sz="1400" b="1"/>
              <a:t>Core Metric: </a:t>
            </a:r>
          </a:p>
          <a:p>
            <a:pPr marL="0" indent="0">
              <a:buNone/>
            </a:pPr>
            <a:r>
              <a:rPr lang="en-US" sz="1400"/>
              <a:t>Stability (70%) + Signal Quality (30%)</a:t>
            </a:r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Reliability Formula:</a:t>
            </a:r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SNR Mapping (Signal-to-Noise Ratio):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77240" y="2726690"/>
            <a:ext cx="3024505" cy="400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82880" y="3677285"/>
            <a:ext cx="3053715" cy="5232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65760" y="4578350"/>
            <a:ext cx="4551680" cy="609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440555" y="2727325"/>
            <a:ext cx="3478530" cy="400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440555" y="3798570"/>
            <a:ext cx="3479800" cy="3409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440555" y="4730750"/>
            <a:ext cx="3474720" cy="457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42910" y="3799205"/>
            <a:ext cx="3966845" cy="4013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042910" y="4618990"/>
            <a:ext cx="2399665" cy="56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EFE3-B25C-6A90-0475-8C078E66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Track A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331F9A-61F2-AF40-2FC1-4021EDD01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90" y="3049430"/>
            <a:ext cx="677322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692D-860F-099C-FF32-916A132E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3307"/>
            <a:ext cx="10515600" cy="934985"/>
          </a:xfrm>
        </p:spPr>
        <p:txBody>
          <a:bodyPr/>
          <a:lstStyle/>
          <a:p>
            <a:r>
              <a:rPr lang="en-US" altLang="zh-CN" dirty="0"/>
              <a:t>Signature recognition-event spike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1FBEFD-04E8-D182-7712-2BA33C72B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0118" y="1788292"/>
            <a:ext cx="10075482" cy="44165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8F5931C-FAB9-682F-0FCE-FE3936F28A6C}"/>
                  </a:ext>
                </a:extLst>
              </p14:cNvPr>
              <p14:cNvContentPartPr/>
              <p14:nvPr/>
            </p14:nvContentPartPr>
            <p14:xfrm>
              <a:off x="1262365" y="4179840"/>
              <a:ext cx="5116663" cy="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8F5931C-FAB9-682F-0FCE-FE3936F28A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6725" y="4107840"/>
                <a:ext cx="5188303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14C7AEF-728B-1557-2C50-832DCE919D25}"/>
                  </a:ext>
                </a:extLst>
              </p14:cNvPr>
              <p14:cNvContentPartPr/>
              <p14:nvPr/>
            </p14:nvContentPartPr>
            <p14:xfrm>
              <a:off x="1186766" y="5617543"/>
              <a:ext cx="5192263" cy="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14C7AEF-728B-1557-2C50-832DCE919D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1126" y="5545543"/>
                <a:ext cx="5263903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0E97B8D-DF7F-9965-937B-5E3B7F59938E}"/>
                  </a:ext>
                </a:extLst>
              </p14:cNvPr>
              <p14:cNvContentPartPr/>
              <p14:nvPr/>
            </p14:nvContentPartPr>
            <p14:xfrm>
              <a:off x="6455006" y="4223760"/>
              <a:ext cx="360" cy="1415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0E97B8D-DF7F-9965-937B-5E3B7F5993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19366" y="4187760"/>
                <a:ext cx="72000" cy="14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C1A950-9F2B-0B85-F5AA-D7794972C90D}"/>
                  </a:ext>
                </a:extLst>
              </p14:cNvPr>
              <p14:cNvContentPartPr/>
              <p14:nvPr/>
            </p14:nvContentPartPr>
            <p14:xfrm>
              <a:off x="1262365" y="4179840"/>
              <a:ext cx="360" cy="14155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C1A950-9F2B-0B85-F5AA-D7794972C9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6725" y="4143840"/>
                <a:ext cx="72000" cy="148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3666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8C83-D007-0964-8F4A-D0DFCDDC8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4485"/>
            <a:ext cx="10515600" cy="934985"/>
          </a:xfrm>
        </p:spPr>
        <p:txBody>
          <a:bodyPr/>
          <a:lstStyle/>
          <a:p>
            <a:r>
              <a:rPr lang="en-US" altLang="zh-CN" dirty="0"/>
              <a:t>baseline drift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7BA2D-962B-5750-F8FB-B1C3CAA4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471"/>
            <a:ext cx="9024257" cy="30045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57A70F-F6D6-5B1D-5244-A28647609073}"/>
                  </a:ext>
                </a:extLst>
              </p14:cNvPr>
              <p14:cNvContentPartPr/>
              <p14:nvPr/>
            </p14:nvContentPartPr>
            <p14:xfrm>
              <a:off x="115406" y="3384960"/>
              <a:ext cx="376920" cy="1037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57A70F-F6D6-5B1D-5244-A286476090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6" y="3348960"/>
                <a:ext cx="448560" cy="110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2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FC50-1DAC-3208-3226-72082DC7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algorithms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FBE9-11EA-CBD9-3771-0307021E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Moving Average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Core Code: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```python</a:t>
            </a:r>
          </a:p>
          <a:p>
            <a:r>
              <a:rPr lang="en-US" altLang="zh-CN" dirty="0"/>
              <a:t>smoothed = </a:t>
            </a:r>
            <a:r>
              <a:rPr lang="en-US" altLang="zh-CN" dirty="0" err="1"/>
              <a:t>series.rolling</a:t>
            </a:r>
            <a:r>
              <a:rPr lang="en-US" altLang="zh-CN" dirty="0"/>
              <a:t>(window=</a:t>
            </a:r>
            <a:r>
              <a:rPr lang="en-US" altLang="zh-CN" dirty="0" err="1"/>
              <a:t>ma_window</a:t>
            </a:r>
            <a:r>
              <a:rPr lang="en-US" altLang="zh-CN" dirty="0"/>
              <a:t>, </a:t>
            </a:r>
            <a:r>
              <a:rPr lang="en-US" altLang="zh-CN" dirty="0" err="1"/>
              <a:t>min_periods</a:t>
            </a:r>
            <a:r>
              <a:rPr lang="en-US" altLang="zh-CN" dirty="0"/>
              <a:t>=1).mean()</a:t>
            </a:r>
          </a:p>
          <a:p>
            <a:r>
              <a:rPr lang="en-US" altLang="zh-CN" dirty="0"/>
              <a:t>```</a:t>
            </a:r>
          </a:p>
          <a:p>
            <a:r>
              <a:rPr lang="en-US" altLang="zh-CN" b="1" dirty="0"/>
              <a:t>idea:</a:t>
            </a:r>
            <a:r>
              <a:rPr lang="en-US" altLang="zh-CN" dirty="0"/>
              <a:t> Sliding window averaging smooths out high-frequency noise and stabilizes the signal.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43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E827-05B3-BCD3-E4FF-6C822981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878" y="1207784"/>
            <a:ext cx="10515600" cy="934985"/>
          </a:xfrm>
        </p:spPr>
        <p:txBody>
          <a:bodyPr/>
          <a:lstStyle/>
          <a:p>
            <a:r>
              <a:rPr lang="en-US" altLang="zh-CN" dirty="0"/>
              <a:t>5 algorithms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BE71-228E-5952-F291-EA141EFCD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878" y="2255785"/>
            <a:ext cx="10515600" cy="385381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 </a:t>
            </a:r>
            <a:r>
              <a:rPr lang="en-US" altLang="zh-CN" sz="3400" b="1" dirty="0"/>
              <a:t>Kalman Filter</a:t>
            </a:r>
            <a:endParaRPr lang="en-US" altLang="zh-CN" sz="3400" dirty="0"/>
          </a:p>
          <a:p>
            <a:pPr marL="0" indent="0">
              <a:buNone/>
            </a:pPr>
            <a:br>
              <a:rPr lang="en-US" altLang="zh-CN" sz="3400" dirty="0"/>
            </a:br>
            <a:endParaRPr lang="en-US" altLang="zh-CN" sz="3400" dirty="0"/>
          </a:p>
          <a:p>
            <a:pPr marL="0" indent="0">
              <a:buNone/>
            </a:pPr>
            <a:r>
              <a:rPr lang="en-US" altLang="zh-CN" sz="3400" b="1" dirty="0"/>
              <a:t>Core Code:</a:t>
            </a:r>
            <a:endParaRPr lang="en-US" altLang="zh-CN" sz="3400" dirty="0"/>
          </a:p>
          <a:p>
            <a:pPr marL="0" indent="0">
              <a:buNone/>
            </a:pPr>
            <a:r>
              <a:rPr lang="en-US" altLang="zh-CN" sz="3400" dirty="0"/>
              <a:t>```python</a:t>
            </a:r>
          </a:p>
          <a:p>
            <a:pPr marL="0" indent="0">
              <a:buNone/>
            </a:pPr>
            <a:r>
              <a:rPr lang="en-US" altLang="zh-CN" sz="3400" dirty="0"/>
              <a:t>gain = </a:t>
            </a:r>
            <a:r>
              <a:rPr lang="en-US" altLang="zh-CN" sz="3400" dirty="0" err="1"/>
              <a:t>error_est</a:t>
            </a:r>
            <a:r>
              <a:rPr lang="en-US" altLang="zh-CN" sz="3400" dirty="0"/>
              <a:t> / (</a:t>
            </a:r>
            <a:r>
              <a:rPr lang="en-US" altLang="zh-CN" sz="3400" dirty="0" err="1"/>
              <a:t>error_est</a:t>
            </a:r>
            <a:r>
              <a:rPr lang="en-US" altLang="zh-CN" sz="3400" dirty="0"/>
              <a:t> + </a:t>
            </a:r>
            <a:r>
              <a:rPr lang="en-US" altLang="zh-CN" sz="3400" dirty="0" err="1"/>
              <a:t>measurement_noise</a:t>
            </a:r>
            <a:r>
              <a:rPr lang="en-US" altLang="zh-CN" sz="3400" dirty="0"/>
              <a:t>)</a:t>
            </a:r>
          </a:p>
          <a:p>
            <a:pPr marL="0" indent="0">
              <a:buNone/>
            </a:pPr>
            <a:r>
              <a:rPr lang="en-US" altLang="zh-CN" sz="3400" dirty="0"/>
              <a:t>estimate = estimate + gain * (measurement - estimate)</a:t>
            </a:r>
          </a:p>
          <a:p>
            <a:pPr marL="0" indent="0">
              <a:buNone/>
            </a:pPr>
            <a:r>
              <a:rPr lang="en-US" altLang="zh-CN" sz="3400" dirty="0"/>
              <a:t>```</a:t>
            </a:r>
          </a:p>
          <a:p>
            <a:pPr marL="0" indent="0">
              <a:buNone/>
            </a:pPr>
            <a:br>
              <a:rPr lang="en-US" altLang="zh-CN" sz="3400" dirty="0"/>
            </a:br>
            <a:endParaRPr lang="en-US" altLang="zh-CN" sz="3400" dirty="0"/>
          </a:p>
          <a:p>
            <a:pPr marL="0" indent="0">
              <a:buNone/>
            </a:pPr>
            <a:r>
              <a:rPr lang="en-US" altLang="zh-CN" sz="3400" b="1" dirty="0"/>
              <a:t>Idea:</a:t>
            </a:r>
            <a:r>
              <a:rPr lang="en-US" altLang="zh-CN" sz="3400" dirty="0"/>
              <a:t> A dynamic gain balances trust between historical estimates and new measurements.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05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2991-B59E-8026-70DD-AD6C4BD2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84" y="1238607"/>
            <a:ext cx="10515600" cy="934985"/>
          </a:xfrm>
        </p:spPr>
        <p:txBody>
          <a:bodyPr/>
          <a:lstStyle/>
          <a:p>
            <a:r>
              <a:rPr lang="en-US" altLang="zh-CN" dirty="0"/>
              <a:t>5 algorithms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1F8C4-A46D-E63E-E685-8FD8B1E26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184" y="2266059"/>
            <a:ext cx="10515600" cy="38538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Dynamic Adaptive Threshold</a:t>
            </a:r>
            <a:endParaRPr lang="en-US" altLang="zh-CN" dirty="0"/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Core Code: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```python</a:t>
            </a:r>
          </a:p>
          <a:p>
            <a:pPr marL="0" indent="0">
              <a:buNone/>
            </a:pPr>
            <a:r>
              <a:rPr lang="en-US" altLang="zh-CN" dirty="0" err="1"/>
              <a:t>robust_scale</a:t>
            </a:r>
            <a:r>
              <a:rPr lang="en-US" altLang="zh-CN" dirty="0"/>
              <a:t> = </a:t>
            </a:r>
            <a:r>
              <a:rPr lang="en-US" altLang="zh-CN" dirty="0" err="1"/>
              <a:t>residual.abs</a:t>
            </a:r>
            <a:r>
              <a:rPr lang="en-US" altLang="zh-CN" dirty="0"/>
              <a:t>().</a:t>
            </a:r>
            <a:r>
              <a:rPr lang="en-US" altLang="zh-CN" dirty="0" err="1"/>
              <a:t>ewm</a:t>
            </a:r>
            <a:r>
              <a:rPr lang="en-US" altLang="zh-CN" dirty="0"/>
              <a:t>(span=</a:t>
            </a:r>
            <a:r>
              <a:rPr lang="en-US" altLang="zh-CN" dirty="0" err="1"/>
              <a:t>baseline_window</a:t>
            </a:r>
            <a:r>
              <a:rPr lang="en-US" altLang="zh-CN" dirty="0"/>
              <a:t>).mean() * 1.4826</a:t>
            </a:r>
          </a:p>
          <a:p>
            <a:pPr marL="0" indent="0">
              <a:buNone/>
            </a:pPr>
            <a:r>
              <a:rPr lang="en-US" altLang="zh-CN" dirty="0"/>
              <a:t>adaptive = (residual - </a:t>
            </a:r>
            <a:r>
              <a:rPr lang="en-US" altLang="zh-CN" dirty="0" err="1"/>
              <a:t>adaptive_sigma</a:t>
            </a:r>
            <a:r>
              <a:rPr lang="en-US" altLang="zh-CN" dirty="0"/>
              <a:t> * </a:t>
            </a:r>
            <a:r>
              <a:rPr lang="en-US" altLang="zh-CN" dirty="0" err="1"/>
              <a:t>robust_scale</a:t>
            </a:r>
            <a:r>
              <a:rPr lang="en-US" altLang="zh-CN" dirty="0"/>
              <a:t>).clip(lower=0.0)</a:t>
            </a:r>
          </a:p>
          <a:p>
            <a:pPr marL="0" indent="0">
              <a:buNone/>
            </a:pPr>
            <a:r>
              <a:rPr lang="en-US" altLang="zh-CN" dirty="0"/>
              <a:t>```</a:t>
            </a:r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Idea:</a:t>
            </a:r>
            <a:r>
              <a:rPr lang="en-US" altLang="zh-CN" dirty="0"/>
              <a:t> Sensitivity is automatically adjusted according to signal variability.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7550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0FCE-818B-FF89-B2B3-921C3B84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algorithms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1351-04F4-02A8-6E36-1FC36B1E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 Derivative</a:t>
            </a:r>
            <a:endParaRPr lang="en-US" altLang="zh-CN" dirty="0"/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Core Code: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```python</a:t>
            </a:r>
          </a:p>
          <a:p>
            <a:pPr marL="0" indent="0">
              <a:buNone/>
            </a:pPr>
            <a:r>
              <a:rPr lang="en-US" altLang="zh-CN" dirty="0"/>
              <a:t>derivative = </a:t>
            </a:r>
            <a:r>
              <a:rPr lang="en-US" altLang="zh-CN" dirty="0" err="1"/>
              <a:t>series.diff</a:t>
            </a:r>
            <a:r>
              <a:rPr lang="en-US" altLang="zh-CN" dirty="0"/>
              <a:t>().div(SAMPLE_INTERVAL_SECONDS)</a:t>
            </a:r>
          </a:p>
          <a:p>
            <a:pPr marL="0" indent="0">
              <a:buNone/>
            </a:pPr>
            <a:r>
              <a:rPr lang="en-US" altLang="zh-CN" dirty="0"/>
              <a:t>derivative = </a:t>
            </a:r>
            <a:r>
              <a:rPr lang="en-US" altLang="zh-CN" dirty="0" err="1"/>
              <a:t>derivative.rolling</a:t>
            </a:r>
            <a:r>
              <a:rPr lang="en-US" altLang="zh-CN" dirty="0"/>
              <a:t>(window=3, </a:t>
            </a:r>
            <a:r>
              <a:rPr lang="en-US" altLang="zh-CN" dirty="0" err="1"/>
              <a:t>min_periods</a:t>
            </a:r>
            <a:r>
              <a:rPr lang="en-US" altLang="zh-CN" dirty="0"/>
              <a:t>=1).mean()</a:t>
            </a:r>
          </a:p>
          <a:p>
            <a:pPr marL="0" indent="0">
              <a:buNone/>
            </a:pPr>
            <a:r>
              <a:rPr lang="en-US" altLang="zh-CN" dirty="0"/>
              <a:t>```</a:t>
            </a:r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Idea: </a:t>
            </a:r>
            <a:r>
              <a:rPr lang="en-US" altLang="zh-CN" dirty="0"/>
              <a:t>It tracks rate of change instead of absolute values, so sudden spikes are detected quickly.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079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1837-A287-ED2B-1E3F-A54979D6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algorithms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9148-846B-7065-9BB4-7F13C536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Sensor Fusion</a:t>
            </a:r>
            <a:endParaRPr lang="en-US" altLang="zh-CN" dirty="0"/>
          </a:p>
          <a:p>
            <a:pPr marL="0" indent="0">
              <a:buNone/>
            </a:pPr>
            <a:br>
              <a:rPr lang="en-US" altLang="zh-CN" dirty="0"/>
            </a:br>
            <a:r>
              <a:rPr lang="en-US" altLang="zh-CN" b="1" dirty="0"/>
              <a:t>Core Code: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```python</a:t>
            </a:r>
          </a:p>
          <a:p>
            <a:pPr marL="0" indent="0">
              <a:buNone/>
            </a:pPr>
            <a:r>
              <a:rPr lang="en-US" altLang="zh-CN" dirty="0"/>
              <a:t>fusion["MQ3"] = 0.70 * activation["MQ3"] + 0.30 * activation["MQ135"] + 0.08 * derivative["MQ3"]</a:t>
            </a:r>
          </a:p>
          <a:p>
            <a:pPr marL="0" indent="0">
              <a:buNone/>
            </a:pPr>
            <a:r>
              <a:rPr lang="en-US" altLang="zh-CN" dirty="0"/>
              <a:t>fusion["MQ135"] = 0.20 * activation["MQ3"] + 0.60 * activation["MQ135"] + 0.20 * activation["MQ2"]</a:t>
            </a:r>
          </a:p>
          <a:p>
            <a:pPr marL="0" indent="0">
              <a:buNone/>
            </a:pPr>
            <a:r>
              <a:rPr lang="en-US" altLang="zh-CN" dirty="0"/>
              <a:t>```</a:t>
            </a:r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Idea:</a:t>
            </a:r>
            <a:r>
              <a:rPr lang="en-US" altLang="zh-CN" dirty="0"/>
              <a:t> Four sensors are fused with weighted voting to improve reliability and reduce false positives.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674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Conclusion &amp; Future Work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862455"/>
            <a:ext cx="3778885" cy="4246880"/>
          </a:xfrm>
        </p:spPr>
        <p:txBody>
          <a:bodyPr/>
          <a:lstStyle/>
          <a:p>
            <a:pPr marL="0" indent="0">
              <a:buNone/>
            </a:pPr>
            <a:r>
              <a:rPr lang="en-US" sz="2000" b="1"/>
              <a:t>Conclusion: A Scalable Multi-Channel Framework</a:t>
            </a: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zh-CN" altLang="en-US" sz="2000" b="1"/>
              <a:t>Success:</a:t>
            </a:r>
            <a:r>
              <a:rPr lang="zh-CN" altLang="en-US" sz="2000"/>
              <a:t> Developed a</a:t>
            </a:r>
            <a:r>
              <a:rPr lang="en-US" altLang="zh-CN" sz="2000"/>
              <a:t> </a:t>
            </a:r>
            <a:r>
              <a:rPr lang="zh-CN" altLang="en-US" sz="2000"/>
              <a:t>functional, high-precision IoT hub capable of signature recognition for alcohol and smoke.</a:t>
            </a:r>
          </a:p>
          <a:p>
            <a:pPr marL="0" indent="0">
              <a:buNone/>
            </a:pPr>
            <a:endParaRPr lang="zh-CN" altLang="en-US" sz="2000" b="1"/>
          </a:p>
          <a:p>
            <a:pPr marL="0" indent="0">
              <a:buNone/>
            </a:pPr>
            <a:r>
              <a:rPr lang="zh-CN" altLang="en-US" sz="2000" b="1"/>
              <a:t>Reliability: </a:t>
            </a:r>
            <a:r>
              <a:rPr lang="zh-CN" altLang="en-US" sz="2000"/>
              <a:t>Integrated real-time health monitoring (SNR &amp; Packet Loss) to ensure data integrity.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14360" y="1863090"/>
            <a:ext cx="3597275" cy="4088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Future Work：</a:t>
            </a:r>
          </a:p>
          <a:p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Hardware：</a:t>
            </a: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Sensor Calibration: Address the lower-than-expected sensitivity of the MQ-3 sensor through advanced multi-point calibration.</a:t>
            </a: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Broadening Scope: Expand the testing database to include a wider variety of volatile gases.</a:t>
            </a: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Stress Testing: Evaluate system performance under extreme environmental conditions (high heat/humidity).</a:t>
            </a:r>
          </a:p>
          <a:p>
            <a:endParaRPr lang="zh-CN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software：</a:t>
            </a: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Latency Reduction: Optimize the data polling cycle to minimize waveform delay between sensing and visualization.</a:t>
            </a: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Communication Stability: Resolve intermittent interface instability to lower the packet loss rate.</a:t>
            </a: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Robust Protocol: Implement error-correction algorithms to stabilize the serial-to-web data stream.</a:t>
            </a:r>
          </a:p>
        </p:txBody>
      </p:sp>
      <p:pic>
        <p:nvPicPr>
          <p:cNvPr id="106" name="图片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4553585" y="2085340"/>
            <a:ext cx="3660775" cy="3643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7200" b="1"/>
              <a:t>THE END</a:t>
            </a:r>
            <a:br>
              <a:rPr lang="en-US" sz="5400" b="1"/>
            </a:br>
            <a:r>
              <a:rPr lang="en-US" sz="3200"/>
              <a:t>THANKS FOR WATCHING!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Y2ZTQ1OWZlMjBmZjJiZjc0MWZkMWI4ZmM4ZDE0M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Mizzou Brand 1">
  <a:themeElements>
    <a:clrScheme name="UMKC Theme">
      <a:dk1>
        <a:srgbClr val="005CB8"/>
      </a:dk1>
      <a:lt1>
        <a:srgbClr val="FFFFFF"/>
      </a:lt1>
      <a:dk2>
        <a:srgbClr val="EFCC02"/>
      </a:dk2>
      <a:lt2>
        <a:srgbClr val="C6C8CA"/>
      </a:lt2>
      <a:accent1>
        <a:srgbClr val="3DB3E3"/>
      </a:accent1>
      <a:accent2>
        <a:srgbClr val="004987"/>
      </a:accent2>
      <a:accent3>
        <a:srgbClr val="437CBF"/>
      </a:accent3>
      <a:accent4>
        <a:srgbClr val="FEC52B"/>
      </a:accent4>
      <a:accent5>
        <a:srgbClr val="F16725"/>
      </a:accent5>
      <a:accent6>
        <a:srgbClr val="00263D"/>
      </a:accent6>
      <a:hlink>
        <a:srgbClr val="005CB8"/>
      </a:hlink>
      <a:folHlink>
        <a:srgbClr val="004987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izzou Brand 1">
  <a:themeElements>
    <a:clrScheme name="UMKC Theme">
      <a:dk1>
        <a:srgbClr val="005CB8"/>
      </a:dk1>
      <a:lt1>
        <a:srgbClr val="FFFFFF"/>
      </a:lt1>
      <a:dk2>
        <a:srgbClr val="EFCC02"/>
      </a:dk2>
      <a:lt2>
        <a:srgbClr val="C6C8CA"/>
      </a:lt2>
      <a:accent1>
        <a:srgbClr val="3DB3E3"/>
      </a:accent1>
      <a:accent2>
        <a:srgbClr val="004987"/>
      </a:accent2>
      <a:accent3>
        <a:srgbClr val="437CBF"/>
      </a:accent3>
      <a:accent4>
        <a:srgbClr val="FEC52B"/>
      </a:accent4>
      <a:accent5>
        <a:srgbClr val="F16725"/>
      </a:accent5>
      <a:accent6>
        <a:srgbClr val="00263D"/>
      </a:accent6>
      <a:hlink>
        <a:srgbClr val="005CB8"/>
      </a:hlink>
      <a:folHlink>
        <a:srgbClr val="004987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19D1F250E694BAAD8C54BFD6B67B2" ma:contentTypeVersion="20" ma:contentTypeDescription="Create a new document." ma:contentTypeScope="" ma:versionID="98f786fc5cbf6f8d47aab5919f359132">
  <xsd:schema xmlns:xsd="http://www.w3.org/2001/XMLSchema" xmlns:xs="http://www.w3.org/2001/XMLSchema" xmlns:p="http://schemas.microsoft.com/office/2006/metadata/properties" xmlns:ns2="8f59010d-bfae-4690-b442-17aac1929a53" xmlns:ns3="4e822213-79e0-466b-8a07-6ccb94f3e524" targetNamespace="http://schemas.microsoft.com/office/2006/metadata/properties" ma:root="true" ma:fieldsID="cdc4f168949029a59c71fc5e7a450752" ns2:_="" ns3:_="">
    <xsd:import namespace="8f59010d-bfae-4690-b442-17aac1929a53"/>
    <xsd:import namespace="4e822213-79e0-466b-8a07-6ccb94f3e5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9010d-bfae-4690-b442-17aac1929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e20e570-3a27-4eff-9ea0-d3488a33f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22213-79e0-466b-8a07-6ccb94f3e52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ec45b42-71d2-42b2-82cb-677ce56ef8ee}" ma:internalName="TaxCatchAll" ma:showField="CatchAllData" ma:web="4e822213-79e0-466b-8a07-6ccb94f3e5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822213-79e0-466b-8a07-6ccb94f3e524" xsi:nil="true"/>
    <lcf76f155ced4ddcb4097134ff3c332f xmlns="8f59010d-bfae-4690-b442-17aac1929a5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021F5-38F2-42C3-891D-FC1F9792D7E1}">
  <ds:schemaRefs/>
</ds:datastoreItem>
</file>

<file path=customXml/itemProps2.xml><?xml version="1.0" encoding="utf-8"?>
<ds:datastoreItem xmlns:ds="http://schemas.openxmlformats.org/officeDocument/2006/customXml" ds:itemID="{E092DC28-91BD-48D0-834F-032E3E25C4C2}">
  <ds:schemaRefs/>
</ds:datastoreItem>
</file>

<file path=customXml/itemProps3.xml><?xml version="1.0" encoding="utf-8"?>
<ds:datastoreItem xmlns:ds="http://schemas.openxmlformats.org/officeDocument/2006/customXml" ds:itemID="{F3B4499D-9766-4EC1-8954-90C1E160E43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Mizzou Brand 1</Template>
  <TotalTime>73</TotalTime>
  <Words>857</Words>
  <Application>Microsoft Office PowerPoint</Application>
  <PresentationFormat>Widescreen</PresentationFormat>
  <Paragraphs>131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等线</vt:lpstr>
      <vt:lpstr>Arial</vt:lpstr>
      <vt:lpstr>Mizzou Brand 1</vt:lpstr>
      <vt:lpstr>1_Mizzou Brand 1</vt:lpstr>
      <vt:lpstr>NSF-NRT  challenge A</vt:lpstr>
      <vt:lpstr>Contents</vt:lpstr>
      <vt:lpstr>Problem Statement &amp; Mission</vt:lpstr>
      <vt:lpstr>Hardware: High-Precision Sensing</vt:lpstr>
      <vt:lpstr>Gateway &amp; Data Processing Logic</vt:lpstr>
      <vt:lpstr>Track A</vt:lpstr>
      <vt:lpstr>Signature recognition-event spike</vt:lpstr>
      <vt:lpstr>baseline drift</vt:lpstr>
      <vt:lpstr>5 algorithms</vt:lpstr>
      <vt:lpstr>5 algorithms</vt:lpstr>
      <vt:lpstr>5 algorithms</vt:lpstr>
      <vt:lpstr>5 algorithms</vt:lpstr>
      <vt:lpstr>5 algorithms</vt:lpstr>
      <vt:lpstr>Conclusion &amp; Future Work</vt:lpstr>
      <vt:lpstr>THE END THANKS FOR WATCHING!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Church, Jessica</dc:creator>
  <cp:lastModifiedBy>迦理 梁</cp:lastModifiedBy>
  <cp:revision>16</cp:revision>
  <dcterms:created xsi:type="dcterms:W3CDTF">2025-09-17T19:42:00Z</dcterms:created>
  <dcterms:modified xsi:type="dcterms:W3CDTF">2026-04-10T06:26:13Z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0x010100D0E19D1F250E694BAAD8C54BFD6B67B2</vt:lpwstr>
  </property>
  <property fmtid="{D5CDD505-2E9C-101B-9397-08002B2CF9AE}" pid="3" name="MediaServiceImageTags">
    <vt:lpwstr/>
  </property>
  <property fmtid="{D5CDD505-2E9C-101B-9397-08002B2CF9AE}" pid="4" name="ICV">
    <vt:lpwstr>8DA96D7E9D9244DABEA8352AF166C730_13</vt:lpwstr>
  </property>
  <property fmtid="{D5CDD505-2E9C-101B-9397-08002B2CF9AE}" pid="5" name="KSOProductBuildVer">
    <vt:lpwstr>2052-12.1.0.16120</vt:lpwstr>
  </property>
</Properties>
</file>